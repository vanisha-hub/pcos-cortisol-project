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31"/>
  </p:notesMasterIdLst>
  <p:handoutMasterIdLst>
    <p:handoutMasterId r:id="rId32"/>
  </p:handoutMasterIdLst>
  <p:sldIdLst>
    <p:sldId id="312" r:id="rId5"/>
    <p:sldId id="337" r:id="rId6"/>
    <p:sldId id="307" r:id="rId7"/>
    <p:sldId id="281" r:id="rId8"/>
    <p:sldId id="317" r:id="rId9"/>
    <p:sldId id="282" r:id="rId10"/>
    <p:sldId id="323" r:id="rId11"/>
    <p:sldId id="324" r:id="rId12"/>
    <p:sldId id="325" r:id="rId13"/>
    <p:sldId id="319" r:id="rId14"/>
    <p:sldId id="326" r:id="rId15"/>
    <p:sldId id="327" r:id="rId16"/>
    <p:sldId id="328" r:id="rId17"/>
    <p:sldId id="321" r:id="rId18"/>
    <p:sldId id="329" r:id="rId19"/>
    <p:sldId id="322" r:id="rId20"/>
    <p:sldId id="330" r:id="rId21"/>
    <p:sldId id="331" r:id="rId22"/>
    <p:sldId id="314" r:id="rId23"/>
    <p:sldId id="332" r:id="rId24"/>
    <p:sldId id="315" r:id="rId25"/>
    <p:sldId id="335" r:id="rId26"/>
    <p:sldId id="336" r:id="rId27"/>
    <p:sldId id="333" r:id="rId28"/>
    <p:sldId id="334" r:id="rId29"/>
    <p:sldId id="297" r:id="rId30"/>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AF6"/>
    <a:srgbClr val="202C8F"/>
    <a:srgbClr val="FDFBF6"/>
    <a:srgbClr val="AAC4E9"/>
    <a:srgbClr val="F5CDCE"/>
    <a:srgbClr val="DF8C8C"/>
    <a:srgbClr val="D4D593"/>
    <a:srgbClr val="E6F0FE"/>
    <a:srgbClr val="CDBE8A"/>
    <a:srgbClr val="FFEF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388" autoAdjust="0"/>
  </p:normalViewPr>
  <p:slideViewPr>
    <p:cSldViewPr snapToGrid="0" snapToObjects="1">
      <p:cViewPr varScale="1">
        <p:scale>
          <a:sx n="68" d="100"/>
          <a:sy n="68" d="100"/>
        </p:scale>
        <p:origin x="616" y="68"/>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3431438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5729931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6905367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1725610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3730098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7697476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476683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4607149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5088148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0411247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782678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6815962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1228815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3914949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mailto:laibaishtiaq74@gmail.com" TargetMode="External"/><Relationship Id="rId13" Type="http://schemas.openxmlformats.org/officeDocument/2006/relationships/hyperlink" Target="mailto:chinedumbah906@gmail.com" TargetMode="External"/><Relationship Id="rId3" Type="http://schemas.openxmlformats.org/officeDocument/2006/relationships/hyperlink" Target="mailto:babariyabhavini08@gmail.com" TargetMode="External"/><Relationship Id="rId7" Type="http://schemas.openxmlformats.org/officeDocument/2006/relationships/hyperlink" Target="mailto:youssra.azaf99@gmail.com" TargetMode="External"/><Relationship Id="rId12" Type="http://schemas.openxmlformats.org/officeDocument/2006/relationships/hyperlink" Target="mailto:emilydorado2804@gmail.com" TargetMode="External"/><Relationship Id="rId2" Type="http://schemas.openxmlformats.org/officeDocument/2006/relationships/hyperlink" Target="mailto:vanisha0209@gmail.com" TargetMode="External"/><Relationship Id="rId1" Type="http://schemas.openxmlformats.org/officeDocument/2006/relationships/slideLayout" Target="../slideLayouts/slideLayout9.xml"/><Relationship Id="rId6" Type="http://schemas.openxmlformats.org/officeDocument/2006/relationships/hyperlink" Target="mailto:youssra159@gmail.com" TargetMode="External"/><Relationship Id="rId11" Type="http://schemas.openxmlformats.org/officeDocument/2006/relationships/hyperlink" Target="mailto:MCNwosu16@my.fisk.edu" TargetMode="External"/><Relationship Id="rId5" Type="http://schemas.openxmlformats.org/officeDocument/2006/relationships/hyperlink" Target="mailto:fanaeahmed3@gmail.com" TargetMode="External"/><Relationship Id="rId15" Type="http://schemas.openxmlformats.org/officeDocument/2006/relationships/hyperlink" Target="mailto:manarhamdyelabd@gmail.com" TargetMode="External"/><Relationship Id="rId10" Type="http://schemas.openxmlformats.org/officeDocument/2006/relationships/hyperlink" Target="mailto:hikam.bihar@gmail.com" TargetMode="External"/><Relationship Id="rId4" Type="http://schemas.openxmlformats.org/officeDocument/2006/relationships/hyperlink" Target="mailto:eggcellent366@gmail.com" TargetMode="External"/><Relationship Id="rId9" Type="http://schemas.openxmlformats.org/officeDocument/2006/relationships/hyperlink" Target="mailto:kanwalnaz88@hotmail.com" TargetMode="External"/><Relationship Id="rId14" Type="http://schemas.openxmlformats.org/officeDocument/2006/relationships/hyperlink" Target="mailto:deiby.alex@hotmail.com"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31.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image" Target="../media/image36.pn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41.png"/><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1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image" Target="../media/image48.png"/><Relationship Id="rId4" Type="http://schemas.openxmlformats.org/officeDocument/2006/relationships/image" Target="../media/image47.png"/></Relationships>
</file>

<file path=ppt/slides/_rels/slide20.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19.xml"/><Relationship Id="rId1" Type="http://schemas.openxmlformats.org/officeDocument/2006/relationships/slideLayout" Target="../slideLayouts/slideLayout6.xml"/><Relationship Id="rId5" Type="http://schemas.openxmlformats.org/officeDocument/2006/relationships/image" Target="../media/image51.png"/><Relationship Id="rId4" Type="http://schemas.openxmlformats.org/officeDocument/2006/relationships/image" Target="../media/image50.png"/></Relationships>
</file>

<file path=ppt/slides/_rels/slide2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B3A3715-643C-4C26-8FA6-10F3C7F0BBE2}"/>
              </a:ext>
            </a:extLst>
          </p:cNvPr>
          <p:cNvSpPr txBox="1"/>
          <p:nvPr/>
        </p:nvSpPr>
        <p:spPr>
          <a:xfrm>
            <a:off x="2491426" y="2184555"/>
            <a:ext cx="7209148" cy="830997"/>
          </a:xfrm>
          <a:prstGeom prst="rect">
            <a:avLst/>
          </a:prstGeom>
          <a:noFill/>
        </p:spPr>
        <p:txBody>
          <a:bodyPr wrap="square">
            <a:spAutoFit/>
          </a:bodyPr>
          <a:lstStyle/>
          <a:p>
            <a:pPr algn="ctr"/>
            <a:r>
              <a:rPr lang="en-US" sz="2400" i="1" dirty="0"/>
              <a:t>Integrated Transcriptomic Analysis of PCOS reveals Metabolic and Endocrine-Transcriptional Axes</a:t>
            </a:r>
            <a:endParaRPr lang="en-IN" sz="2400" b="1" i="1" dirty="0">
              <a:solidFill>
                <a:schemeClr val="accent6"/>
              </a:solidFill>
            </a:endParaRPr>
          </a:p>
        </p:txBody>
      </p:sp>
      <p:sp>
        <p:nvSpPr>
          <p:cNvPr id="8" name="TextBox 7">
            <a:extLst>
              <a:ext uri="{FF2B5EF4-FFF2-40B4-BE49-F238E27FC236}">
                <a16:creationId xmlns:a16="http://schemas.microsoft.com/office/drawing/2014/main" id="{0724CF3D-4CA2-446E-8C08-FA5DB8449E0E}"/>
              </a:ext>
            </a:extLst>
          </p:cNvPr>
          <p:cNvSpPr txBox="1"/>
          <p:nvPr/>
        </p:nvSpPr>
        <p:spPr>
          <a:xfrm>
            <a:off x="2770106" y="734049"/>
            <a:ext cx="6651788" cy="553998"/>
          </a:xfrm>
          <a:prstGeom prst="rect">
            <a:avLst/>
          </a:prstGeom>
          <a:noFill/>
        </p:spPr>
        <p:txBody>
          <a:bodyPr wrap="square">
            <a:spAutoFit/>
          </a:bodyPr>
          <a:lstStyle/>
          <a:p>
            <a:pPr algn="ctr"/>
            <a:r>
              <a:rPr lang="en-IN" sz="3000" b="1" dirty="0">
                <a:solidFill>
                  <a:schemeClr val="accent6"/>
                </a:solidFill>
              </a:rPr>
              <a:t>FINAL PROJECT PRESENTATION</a:t>
            </a:r>
          </a:p>
        </p:txBody>
      </p:sp>
      <p:sp>
        <p:nvSpPr>
          <p:cNvPr id="12" name="TextBox 11">
            <a:extLst>
              <a:ext uri="{FF2B5EF4-FFF2-40B4-BE49-F238E27FC236}">
                <a16:creationId xmlns:a16="http://schemas.microsoft.com/office/drawing/2014/main" id="{008EC2BA-C058-42D2-BAE7-8A4C1B3C98B6}"/>
              </a:ext>
            </a:extLst>
          </p:cNvPr>
          <p:cNvSpPr txBox="1"/>
          <p:nvPr/>
        </p:nvSpPr>
        <p:spPr>
          <a:xfrm>
            <a:off x="2868107" y="4257946"/>
            <a:ext cx="6094428" cy="646331"/>
          </a:xfrm>
          <a:prstGeom prst="rect">
            <a:avLst/>
          </a:prstGeom>
          <a:noFill/>
        </p:spPr>
        <p:txBody>
          <a:bodyPr wrap="square">
            <a:spAutoFit/>
          </a:bodyPr>
          <a:lstStyle/>
          <a:p>
            <a:pPr algn="ctr"/>
            <a:r>
              <a:rPr lang="en-IN" b="1" dirty="0"/>
              <a:t>Presented by:</a:t>
            </a:r>
          </a:p>
          <a:p>
            <a:pPr algn="ctr"/>
            <a:r>
              <a:rPr lang="en-IN" b="1" dirty="0" err="1"/>
              <a:t>Vanisha</a:t>
            </a:r>
            <a:r>
              <a:rPr lang="en-IN" b="1" dirty="0"/>
              <a:t> Sharma</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5602D83-F0B4-4C43-BDCB-2773D9E2DCCC}"/>
              </a:ext>
            </a:extLst>
          </p:cNvPr>
          <p:cNvSpPr>
            <a:spLocks noGrp="1"/>
          </p:cNvSpPr>
          <p:nvPr>
            <p:ph type="sldNum" sz="quarter" idx="10"/>
          </p:nvPr>
        </p:nvSpPr>
        <p:spPr/>
        <p:txBody>
          <a:bodyPr/>
          <a:lstStyle/>
          <a:p>
            <a:fld id="{48F63A3B-78C7-47BE-AE5E-E10140E04643}" type="slidenum">
              <a:rPr lang="en-US" smtClean="0"/>
              <a:pPr/>
              <a:t>2</a:t>
            </a:fld>
            <a:endParaRPr lang="en-US" dirty="0"/>
          </a:p>
        </p:txBody>
      </p:sp>
      <p:sp>
        <p:nvSpPr>
          <p:cNvPr id="7" name="TextBox 6">
            <a:extLst>
              <a:ext uri="{FF2B5EF4-FFF2-40B4-BE49-F238E27FC236}">
                <a16:creationId xmlns:a16="http://schemas.microsoft.com/office/drawing/2014/main" id="{43FC24F9-A994-45D9-A8A7-41336A7405BC}"/>
              </a:ext>
            </a:extLst>
          </p:cNvPr>
          <p:cNvSpPr txBox="1"/>
          <p:nvPr/>
        </p:nvSpPr>
        <p:spPr>
          <a:xfrm>
            <a:off x="2872819" y="243408"/>
            <a:ext cx="6103856" cy="461665"/>
          </a:xfrm>
          <a:prstGeom prst="rect">
            <a:avLst/>
          </a:prstGeom>
          <a:noFill/>
        </p:spPr>
        <p:txBody>
          <a:bodyPr wrap="square">
            <a:spAutoFit/>
          </a:bodyPr>
          <a:lstStyle/>
          <a:p>
            <a:r>
              <a:rPr lang="en-IN" sz="2400" b="1" dirty="0"/>
              <a:t>TEAM MEMBERS &amp; CONTRIBUTIONS</a:t>
            </a:r>
          </a:p>
        </p:txBody>
      </p:sp>
      <p:sp>
        <p:nvSpPr>
          <p:cNvPr id="9" name="TextBox 8">
            <a:extLst>
              <a:ext uri="{FF2B5EF4-FFF2-40B4-BE49-F238E27FC236}">
                <a16:creationId xmlns:a16="http://schemas.microsoft.com/office/drawing/2014/main" id="{85246C40-4BEB-4263-B3CB-D1630EB1F240}"/>
              </a:ext>
            </a:extLst>
          </p:cNvPr>
          <p:cNvSpPr txBox="1"/>
          <p:nvPr/>
        </p:nvSpPr>
        <p:spPr>
          <a:xfrm>
            <a:off x="280446" y="776948"/>
            <a:ext cx="11578474" cy="5553443"/>
          </a:xfrm>
          <a:prstGeom prst="rect">
            <a:avLst/>
          </a:prstGeom>
          <a:noFill/>
        </p:spPr>
        <p:txBody>
          <a:bodyPr wrap="square">
            <a:spAutoFit/>
          </a:bodyPr>
          <a:lstStyle/>
          <a:p>
            <a:pPr>
              <a:lnSpc>
                <a:spcPct val="150000"/>
              </a:lnSpc>
            </a:pPr>
            <a:r>
              <a:rPr lang="en-IN" sz="1400" b="1" dirty="0"/>
              <a:t>1. </a:t>
            </a:r>
            <a:r>
              <a:rPr lang="en-IN" sz="1400" b="1" dirty="0" err="1"/>
              <a:t>Vanisha</a:t>
            </a:r>
            <a:r>
              <a:rPr lang="en-IN" sz="1400" b="1" dirty="0"/>
              <a:t> Sharma - </a:t>
            </a:r>
            <a:r>
              <a:rPr lang="en-IN" sz="1400" b="1" i="1" dirty="0">
                <a:hlinkClick r:id="rId2"/>
              </a:rPr>
              <a:t>vanisha0209@gmail.com</a:t>
            </a:r>
            <a:r>
              <a:rPr lang="en-IN" sz="1400" b="1" i="1" dirty="0"/>
              <a:t> ; </a:t>
            </a:r>
            <a:r>
              <a:rPr lang="en-IN" sz="1400" dirty="0"/>
              <a:t>Data curation, editing task objectives, interpretation, PPT preparation</a:t>
            </a:r>
          </a:p>
          <a:p>
            <a:pPr>
              <a:lnSpc>
                <a:spcPct val="150000"/>
              </a:lnSpc>
            </a:pPr>
            <a:r>
              <a:rPr lang="en-IN" sz="1400" b="1" dirty="0"/>
              <a:t>2. </a:t>
            </a:r>
            <a:r>
              <a:rPr lang="en-IN" sz="1400" b="1" dirty="0" err="1"/>
              <a:t>Bhavini</a:t>
            </a:r>
            <a:r>
              <a:rPr lang="en-IN" sz="1400" b="1" dirty="0"/>
              <a:t> </a:t>
            </a:r>
            <a:r>
              <a:rPr lang="en-IN" sz="1400" b="1" dirty="0" err="1"/>
              <a:t>Babariya</a:t>
            </a:r>
            <a:r>
              <a:rPr lang="en-IN" sz="1400" b="1" dirty="0"/>
              <a:t> - </a:t>
            </a:r>
            <a:r>
              <a:rPr lang="en-IN" sz="1400" b="1" i="1" dirty="0">
                <a:hlinkClick r:id="rId3"/>
              </a:rPr>
              <a:t>babariyabhavini08@gmail.com</a:t>
            </a:r>
            <a:r>
              <a:rPr lang="en-IN" sz="1400" b="1" i="1" dirty="0"/>
              <a:t> ; </a:t>
            </a:r>
            <a:r>
              <a:rPr lang="en-IN" sz="1400" dirty="0"/>
              <a:t>Dataset acquisition, microarray </a:t>
            </a:r>
            <a:r>
              <a:rPr lang="en-IN" sz="1400" dirty="0" err="1"/>
              <a:t>preprocessing</a:t>
            </a:r>
            <a:r>
              <a:rPr lang="en-IN" sz="1400" dirty="0"/>
              <a:t> (GSE137684 &amp; GSE98421), interpretation</a:t>
            </a:r>
          </a:p>
          <a:p>
            <a:pPr>
              <a:lnSpc>
                <a:spcPct val="150000"/>
              </a:lnSpc>
            </a:pPr>
            <a:r>
              <a:rPr lang="en-IN" sz="1400" b="1" dirty="0"/>
              <a:t>3. </a:t>
            </a:r>
            <a:r>
              <a:rPr lang="en-IN" sz="1400" b="1" dirty="0" err="1"/>
              <a:t>Srikeerthi</a:t>
            </a:r>
            <a:r>
              <a:rPr lang="en-IN" sz="1400" b="1" dirty="0"/>
              <a:t> </a:t>
            </a:r>
            <a:r>
              <a:rPr lang="en-IN" sz="1400" b="1" dirty="0" err="1"/>
              <a:t>Kotamaraju</a:t>
            </a:r>
            <a:r>
              <a:rPr lang="en-IN" sz="1400" b="1" dirty="0"/>
              <a:t> - </a:t>
            </a:r>
            <a:r>
              <a:rPr lang="en-IN" sz="1400" b="1" i="1" dirty="0">
                <a:hlinkClick r:id="rId4"/>
              </a:rPr>
              <a:t>eggcellent366@gmail.com</a:t>
            </a:r>
            <a:r>
              <a:rPr lang="en-IN" sz="1400" b="1" i="1" dirty="0"/>
              <a:t> ; </a:t>
            </a:r>
            <a:r>
              <a:rPr lang="en-IN" sz="1400" dirty="0"/>
              <a:t>Data acquisition, microarray </a:t>
            </a:r>
            <a:r>
              <a:rPr lang="en-IN" sz="1400" dirty="0" err="1"/>
              <a:t>preprocessing</a:t>
            </a:r>
            <a:r>
              <a:rPr lang="en-IN" sz="1400" dirty="0"/>
              <a:t> (GSE114419), result interpretation, proofreading of prior abstract</a:t>
            </a:r>
          </a:p>
          <a:p>
            <a:pPr>
              <a:lnSpc>
                <a:spcPct val="150000"/>
              </a:lnSpc>
            </a:pPr>
            <a:r>
              <a:rPr lang="en-IN" sz="1400" b="1" dirty="0"/>
              <a:t>4. </a:t>
            </a:r>
            <a:r>
              <a:rPr lang="en-IN" sz="1400" b="1" dirty="0" err="1"/>
              <a:t>Fana</a:t>
            </a:r>
            <a:r>
              <a:rPr lang="en-IN" sz="1400" b="1" dirty="0"/>
              <a:t> e Ahmed </a:t>
            </a:r>
            <a:r>
              <a:rPr lang="en-IN" sz="1400" b="1" dirty="0" err="1"/>
              <a:t>Attari</a:t>
            </a:r>
            <a:r>
              <a:rPr lang="en-IN" sz="1400" b="1" dirty="0"/>
              <a:t> - </a:t>
            </a:r>
            <a:r>
              <a:rPr lang="en-IN" sz="1400" b="1" i="1" dirty="0">
                <a:hlinkClick r:id="rId5"/>
              </a:rPr>
              <a:t>fanaeahmed3@gmail.com</a:t>
            </a:r>
            <a:r>
              <a:rPr lang="en-IN" sz="1400" b="1" i="1" dirty="0"/>
              <a:t> ; </a:t>
            </a:r>
            <a:r>
              <a:rPr lang="en-IN" sz="1400" dirty="0"/>
              <a:t>RNA-</a:t>
            </a:r>
            <a:r>
              <a:rPr lang="en-IN" sz="1400" dirty="0" err="1"/>
              <a:t>seq</a:t>
            </a:r>
            <a:r>
              <a:rPr lang="en-IN" sz="1400" dirty="0"/>
              <a:t> </a:t>
            </a:r>
            <a:r>
              <a:rPr lang="en-IN" sz="1400" dirty="0" err="1"/>
              <a:t>preprocessing</a:t>
            </a:r>
            <a:r>
              <a:rPr lang="en-IN" sz="1400" dirty="0"/>
              <a:t> (GSE277906), DESeq2 analysis, interpretation</a:t>
            </a:r>
          </a:p>
          <a:p>
            <a:pPr>
              <a:lnSpc>
                <a:spcPct val="150000"/>
              </a:lnSpc>
            </a:pPr>
            <a:r>
              <a:rPr lang="en-IN" sz="1400" b="1" dirty="0"/>
              <a:t>5. </a:t>
            </a:r>
            <a:r>
              <a:rPr lang="en-IN" sz="1400" b="1" dirty="0" err="1"/>
              <a:t>Youssra</a:t>
            </a:r>
            <a:r>
              <a:rPr lang="en-IN" sz="1400" b="1" dirty="0"/>
              <a:t> </a:t>
            </a:r>
            <a:r>
              <a:rPr lang="en-IN" sz="1400" b="1" dirty="0" err="1"/>
              <a:t>Boumait</a:t>
            </a:r>
            <a:r>
              <a:rPr lang="en-IN" sz="1400" b="1" dirty="0"/>
              <a:t> - </a:t>
            </a:r>
            <a:r>
              <a:rPr lang="en-IN" sz="1400" b="1" i="1" dirty="0">
                <a:hlinkClick r:id="rId6"/>
              </a:rPr>
              <a:t>youssra159@gmail.com</a:t>
            </a:r>
            <a:r>
              <a:rPr lang="en-IN" sz="1400" b="1" i="1" dirty="0"/>
              <a:t> ; </a:t>
            </a:r>
            <a:r>
              <a:rPr lang="en-IN" sz="1400" dirty="0"/>
              <a:t>Proofreading</a:t>
            </a:r>
          </a:p>
          <a:p>
            <a:pPr>
              <a:lnSpc>
                <a:spcPct val="150000"/>
              </a:lnSpc>
            </a:pPr>
            <a:r>
              <a:rPr lang="en-IN" sz="1400" b="1" dirty="0"/>
              <a:t>6. </a:t>
            </a:r>
            <a:r>
              <a:rPr lang="en-IN" sz="1400" b="1" dirty="0" err="1"/>
              <a:t>Youssra</a:t>
            </a:r>
            <a:r>
              <a:rPr lang="en-IN" sz="1400" b="1" dirty="0"/>
              <a:t> </a:t>
            </a:r>
            <a:r>
              <a:rPr lang="en-IN" sz="1400" b="1" dirty="0" err="1"/>
              <a:t>Azaf</a:t>
            </a:r>
            <a:r>
              <a:rPr lang="en-IN" sz="1400" b="1" dirty="0"/>
              <a:t> - </a:t>
            </a:r>
            <a:r>
              <a:rPr lang="en-IN" sz="1400" b="1" i="1" dirty="0">
                <a:hlinkClick r:id="rId7"/>
              </a:rPr>
              <a:t>youssra.azaf99@gmail.com</a:t>
            </a:r>
            <a:r>
              <a:rPr lang="en-IN" sz="1400" b="1" i="1" dirty="0"/>
              <a:t> ; </a:t>
            </a:r>
            <a:r>
              <a:rPr lang="en-IN" sz="1400" dirty="0"/>
              <a:t>Differential expression analysis (all datasets), interpretation</a:t>
            </a:r>
          </a:p>
          <a:p>
            <a:pPr>
              <a:lnSpc>
                <a:spcPct val="150000"/>
              </a:lnSpc>
            </a:pPr>
            <a:r>
              <a:rPr lang="en-IN" sz="1400" b="1" dirty="0"/>
              <a:t>7. </a:t>
            </a:r>
            <a:r>
              <a:rPr lang="en-IN" sz="1400" b="1" dirty="0" err="1"/>
              <a:t>Laiba</a:t>
            </a:r>
            <a:r>
              <a:rPr lang="en-IN" sz="1400" b="1" dirty="0"/>
              <a:t> </a:t>
            </a:r>
            <a:r>
              <a:rPr lang="en-IN" sz="1400" b="1" dirty="0" err="1"/>
              <a:t>Ishtiaq</a:t>
            </a:r>
            <a:r>
              <a:rPr lang="en-IN" sz="1400" b="1" dirty="0"/>
              <a:t> - </a:t>
            </a:r>
            <a:r>
              <a:rPr lang="en-IN" sz="1400" b="1" i="1" dirty="0">
                <a:hlinkClick r:id="rId8"/>
              </a:rPr>
              <a:t>laibaishtiaq74@gmail.com</a:t>
            </a:r>
            <a:r>
              <a:rPr lang="en-IN" sz="1400" b="1" i="1" dirty="0"/>
              <a:t> ; </a:t>
            </a:r>
            <a:r>
              <a:rPr lang="en-IN" sz="1400" dirty="0"/>
              <a:t>Cortisol gene integration, GO biological process enrichment, interpretation</a:t>
            </a:r>
          </a:p>
          <a:p>
            <a:pPr>
              <a:lnSpc>
                <a:spcPct val="150000"/>
              </a:lnSpc>
            </a:pPr>
            <a:r>
              <a:rPr lang="en-IN" sz="1400" b="1" dirty="0"/>
              <a:t>8. Kanwal Naz - </a:t>
            </a:r>
            <a:r>
              <a:rPr lang="en-IN" sz="1400" b="1" i="1" dirty="0">
                <a:hlinkClick r:id="rId9"/>
              </a:rPr>
              <a:t>kanwalnaz88@hotmail.com</a:t>
            </a:r>
            <a:r>
              <a:rPr lang="en-IN" sz="1400" b="1" i="1" dirty="0"/>
              <a:t> ; </a:t>
            </a:r>
            <a:r>
              <a:rPr lang="en-IN" sz="1400" dirty="0"/>
              <a:t>KEGG pathway analysis and interpretation</a:t>
            </a:r>
          </a:p>
          <a:p>
            <a:pPr>
              <a:lnSpc>
                <a:spcPct val="150000"/>
              </a:lnSpc>
            </a:pPr>
            <a:r>
              <a:rPr lang="en-IN" sz="1400" b="1" dirty="0"/>
              <a:t>9. Bihar </a:t>
            </a:r>
            <a:r>
              <a:rPr lang="en-IN" sz="1400" b="1" dirty="0" err="1"/>
              <a:t>Hikam</a:t>
            </a:r>
            <a:r>
              <a:rPr lang="en-IN" sz="1400" b="1" dirty="0"/>
              <a:t> Ahmadi - </a:t>
            </a:r>
            <a:r>
              <a:rPr lang="en-IN" sz="1400" b="1" i="1" dirty="0">
                <a:hlinkClick r:id="rId10"/>
              </a:rPr>
              <a:t>hikam.bihar@gmail.com</a:t>
            </a:r>
            <a:r>
              <a:rPr lang="en-IN" sz="1400" b="1" i="1" dirty="0"/>
              <a:t> ; </a:t>
            </a:r>
            <a:r>
              <a:rPr lang="en-IN" sz="1400" dirty="0"/>
              <a:t>MCODE module annotation, GO/KEGG/</a:t>
            </a:r>
            <a:r>
              <a:rPr lang="en-IN" sz="1400" dirty="0" err="1"/>
              <a:t>Reactome</a:t>
            </a:r>
            <a:r>
              <a:rPr lang="en-IN" sz="1400" dirty="0"/>
              <a:t> enrichment, cluster summarization</a:t>
            </a:r>
          </a:p>
          <a:p>
            <a:pPr>
              <a:lnSpc>
                <a:spcPct val="150000"/>
              </a:lnSpc>
            </a:pPr>
            <a:r>
              <a:rPr lang="en-IN" sz="1400" b="1" dirty="0"/>
              <a:t>10. Maureen Nwosu - </a:t>
            </a:r>
            <a:r>
              <a:rPr lang="en-IN" sz="1400" b="1" i="1" dirty="0">
                <a:hlinkClick r:id="rId11"/>
              </a:rPr>
              <a:t>MCNwosu16@my.fisk.edu</a:t>
            </a:r>
            <a:r>
              <a:rPr lang="en-IN" sz="1400" b="1" i="1" dirty="0"/>
              <a:t> ; </a:t>
            </a:r>
            <a:r>
              <a:rPr lang="en-IN" sz="1400" dirty="0"/>
              <a:t>GO enrichment analysis</a:t>
            </a:r>
          </a:p>
          <a:p>
            <a:pPr>
              <a:lnSpc>
                <a:spcPct val="150000"/>
              </a:lnSpc>
            </a:pPr>
            <a:r>
              <a:rPr lang="en-IN" sz="1400" b="1" dirty="0"/>
              <a:t>11. Emily Dorado - </a:t>
            </a:r>
            <a:r>
              <a:rPr lang="en-IN" sz="1400" b="1" i="1" dirty="0">
                <a:hlinkClick r:id="rId12"/>
              </a:rPr>
              <a:t>emilydorado2804@gmail.com</a:t>
            </a:r>
            <a:r>
              <a:rPr lang="en-IN" sz="1400" b="1" i="1" dirty="0"/>
              <a:t> ; </a:t>
            </a:r>
            <a:r>
              <a:rPr lang="en-IN" sz="1400" dirty="0"/>
              <a:t>STRING analysis, interaction interpretation, subnetworks, </a:t>
            </a:r>
            <a:r>
              <a:rPr lang="en-IN" sz="1400" dirty="0" err="1"/>
              <a:t>Cytoscape</a:t>
            </a:r>
            <a:r>
              <a:rPr lang="en-IN" sz="1400" dirty="0"/>
              <a:t> preparation &amp; exports</a:t>
            </a:r>
          </a:p>
          <a:p>
            <a:pPr>
              <a:lnSpc>
                <a:spcPct val="150000"/>
              </a:lnSpc>
            </a:pPr>
            <a:r>
              <a:rPr lang="en-IN" sz="1400" b="1" dirty="0"/>
              <a:t>12. Mbah Chinedu Endurance - </a:t>
            </a:r>
            <a:r>
              <a:rPr lang="en-IN" sz="1400" b="1" i="1" dirty="0">
                <a:hlinkClick r:id="rId13"/>
              </a:rPr>
              <a:t>chinedumbah906@gmail.com</a:t>
            </a:r>
            <a:r>
              <a:rPr lang="en-IN" sz="1400" b="1" i="1" dirty="0"/>
              <a:t> ; </a:t>
            </a:r>
            <a:r>
              <a:rPr lang="en-IN" sz="1400" dirty="0"/>
              <a:t>PCA, heatmaps, hierarchical clustering for PCOS–control separation &amp; outlier detection</a:t>
            </a:r>
          </a:p>
          <a:p>
            <a:pPr>
              <a:lnSpc>
                <a:spcPct val="150000"/>
              </a:lnSpc>
            </a:pPr>
            <a:r>
              <a:rPr lang="en-IN" sz="1400" b="1" dirty="0"/>
              <a:t>13. </a:t>
            </a:r>
            <a:r>
              <a:rPr lang="en-IN" sz="1400" b="1" dirty="0" err="1"/>
              <a:t>Deiby</a:t>
            </a:r>
            <a:r>
              <a:rPr lang="en-IN" sz="1400" b="1" dirty="0"/>
              <a:t> Alexander </a:t>
            </a:r>
            <a:r>
              <a:rPr lang="en-IN" sz="1400" b="1" dirty="0" err="1"/>
              <a:t>Cabuyales</a:t>
            </a:r>
            <a:r>
              <a:rPr lang="en-IN" sz="1400" b="1" dirty="0"/>
              <a:t> Diaz - </a:t>
            </a:r>
            <a:r>
              <a:rPr lang="en-IN" sz="1400" b="1" i="1" dirty="0">
                <a:hlinkClick r:id="rId14"/>
              </a:rPr>
              <a:t>deiby.alex@hotmail.com</a:t>
            </a:r>
            <a:r>
              <a:rPr lang="en-IN" sz="1400" b="1" i="1" dirty="0"/>
              <a:t> ; </a:t>
            </a:r>
            <a:r>
              <a:rPr lang="en-IN" sz="1400" dirty="0"/>
              <a:t>PCA, heatmaps, hierarchical clustering across datasets for PCOS–control separation &amp; batch effect analysis</a:t>
            </a:r>
          </a:p>
          <a:p>
            <a:pPr>
              <a:lnSpc>
                <a:spcPct val="150000"/>
              </a:lnSpc>
            </a:pPr>
            <a:r>
              <a:rPr lang="en-IN" sz="1400" b="1" dirty="0"/>
              <a:t>14. </a:t>
            </a:r>
            <a:r>
              <a:rPr lang="en-IN" sz="1400" b="1" dirty="0" err="1"/>
              <a:t>Manar</a:t>
            </a:r>
            <a:r>
              <a:rPr lang="en-IN" sz="1400" b="1" dirty="0"/>
              <a:t> </a:t>
            </a:r>
            <a:r>
              <a:rPr lang="en-IN" sz="1400" b="1" dirty="0" err="1"/>
              <a:t>Hamdy</a:t>
            </a:r>
            <a:r>
              <a:rPr lang="en-IN" sz="1400" b="1" dirty="0"/>
              <a:t> </a:t>
            </a:r>
            <a:r>
              <a:rPr lang="en-IN" sz="1400" b="1" dirty="0" err="1"/>
              <a:t>Elabd</a:t>
            </a:r>
            <a:r>
              <a:rPr lang="en-IN" sz="1400" b="1" dirty="0"/>
              <a:t> - </a:t>
            </a:r>
            <a:r>
              <a:rPr lang="en-IN" sz="1400" b="1" i="1" dirty="0">
                <a:hlinkClick r:id="rId15"/>
              </a:rPr>
              <a:t>manarhamdyelabd@gmail.com</a:t>
            </a:r>
            <a:r>
              <a:rPr lang="en-IN" sz="1400" b="1" i="1" dirty="0"/>
              <a:t> ;</a:t>
            </a:r>
            <a:r>
              <a:rPr lang="en-IN" sz="1400" dirty="0"/>
              <a:t>Results integration, report writing</a:t>
            </a:r>
          </a:p>
        </p:txBody>
      </p:sp>
    </p:spTree>
    <p:extLst>
      <p:ext uri="{BB962C8B-B14F-4D97-AF65-F5344CB8AC3E}">
        <p14:creationId xmlns:p14="http://schemas.microsoft.com/office/powerpoint/2010/main" val="2733704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COS (Polycystic Ovary Syndrome): Symptoms &amp; Treatment">
            <a:extLst>
              <a:ext uri="{FF2B5EF4-FFF2-40B4-BE49-F238E27FC236}">
                <a16:creationId xmlns:a16="http://schemas.microsoft.com/office/drawing/2014/main" id="{9FE8AFCD-CFAA-4206-95D4-2F6FA7ABB2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69145" y="0"/>
            <a:ext cx="4022855" cy="402751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815DAB1-DFEF-4D42-9F23-B53B81A22E6E}"/>
              </a:ext>
            </a:extLst>
          </p:cNvPr>
          <p:cNvSpPr txBox="1"/>
          <p:nvPr/>
        </p:nvSpPr>
        <p:spPr>
          <a:xfrm>
            <a:off x="537328" y="1059059"/>
            <a:ext cx="7560297" cy="3139321"/>
          </a:xfrm>
          <a:prstGeom prst="rect">
            <a:avLst/>
          </a:prstGeom>
          <a:noFill/>
        </p:spPr>
        <p:txBody>
          <a:bodyPr wrap="square">
            <a:spAutoFit/>
          </a:bodyPr>
          <a:lstStyle/>
          <a:p>
            <a:pPr marL="285750" indent="-285750" algn="just">
              <a:buFont typeface="Arial" panose="020B0604020202020204" pitchFamily="34" charset="0"/>
              <a:buChar char="•"/>
            </a:pPr>
            <a:r>
              <a:rPr lang="en-US" dirty="0"/>
              <a:t>PCOS is a very complex systemic disorder involving endocrine and metabolic pathways alike, making it one of the most prevalent causes of infertility and metabolic dysfunction among women.</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It is characterized by low-grade chronic inflammation, oxidative stress, insulin resistance, and disturbance in steroid hormone regulation, all of which contribute to ovarian dysfunction and metabolic disorders.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Thus, emerging evidence in support of changes in cortisol and glucocorticoid </a:t>
            </a:r>
            <a:r>
              <a:rPr lang="en-US" dirty="0" err="1"/>
              <a:t>signalling</a:t>
            </a:r>
            <a:r>
              <a:rPr lang="en-US" dirty="0"/>
              <a:t> would suggest impaired stress-response pathways at both metabolic and reproductive levels in PCOS.</a:t>
            </a:r>
            <a:endParaRPr lang="en-IN" dirty="0"/>
          </a:p>
        </p:txBody>
      </p:sp>
      <p:sp>
        <p:nvSpPr>
          <p:cNvPr id="12" name="TextBox 11">
            <a:extLst>
              <a:ext uri="{FF2B5EF4-FFF2-40B4-BE49-F238E27FC236}">
                <a16:creationId xmlns:a16="http://schemas.microsoft.com/office/drawing/2014/main" id="{44DAF18A-F2D1-4E83-9945-7323310CBE12}"/>
              </a:ext>
            </a:extLst>
          </p:cNvPr>
          <p:cNvSpPr txBox="1"/>
          <p:nvPr/>
        </p:nvSpPr>
        <p:spPr>
          <a:xfrm>
            <a:off x="482338" y="4473639"/>
            <a:ext cx="11227324" cy="1477328"/>
          </a:xfrm>
          <a:prstGeom prst="rect">
            <a:avLst/>
          </a:prstGeom>
          <a:noFill/>
        </p:spPr>
        <p:txBody>
          <a:bodyPr wrap="square">
            <a:spAutoFit/>
          </a:bodyPr>
          <a:lstStyle/>
          <a:p>
            <a:pPr marL="285750" indent="-285750" algn="just">
              <a:buFont typeface="Arial" panose="020B0604020202020204" pitchFamily="34" charset="0"/>
              <a:buChar char="•"/>
            </a:pPr>
            <a:r>
              <a:rPr lang="en-US" dirty="0"/>
              <a:t>Transcriptomic profiling, therefore, offers a strong approach toward investigating these multilayered abnormalities by determining differentially expressed genes, dysregulated pathways, and perturbed molecular networks. </a:t>
            </a:r>
          </a:p>
          <a:p>
            <a:pPr marL="285750" indent="-285750" algn="just">
              <a:buFont typeface="Arial" panose="020B0604020202020204" pitchFamily="34" charset="0"/>
              <a:buChar char="•"/>
            </a:pPr>
            <a:r>
              <a:rPr lang="en-US" dirty="0"/>
              <a:t>Such an integration across multiple datasets enables insight at the systems level into PCOS, with coordinated disruptions across metabolic, endocrine, inflammatory, and transcriptional axes.</a:t>
            </a:r>
            <a:endParaRPr lang="en-IN" dirty="0"/>
          </a:p>
        </p:txBody>
      </p:sp>
      <p:sp>
        <p:nvSpPr>
          <p:cNvPr id="14" name="TextBox 13">
            <a:extLst>
              <a:ext uri="{FF2B5EF4-FFF2-40B4-BE49-F238E27FC236}">
                <a16:creationId xmlns:a16="http://schemas.microsoft.com/office/drawing/2014/main" id="{B26AAF88-C8AE-4EF8-958C-E3B87F6836FE}"/>
              </a:ext>
            </a:extLst>
          </p:cNvPr>
          <p:cNvSpPr txBox="1"/>
          <p:nvPr/>
        </p:nvSpPr>
        <p:spPr>
          <a:xfrm>
            <a:off x="482338" y="368425"/>
            <a:ext cx="6108568" cy="523220"/>
          </a:xfrm>
          <a:prstGeom prst="rect">
            <a:avLst/>
          </a:prstGeom>
          <a:noFill/>
        </p:spPr>
        <p:txBody>
          <a:bodyPr wrap="square">
            <a:spAutoFit/>
          </a:bodyPr>
          <a:lstStyle/>
          <a:p>
            <a:r>
              <a:rPr lang="en-IN" sz="2800" b="1" dirty="0"/>
              <a:t>BACKGROUND</a:t>
            </a:r>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461913" y="505733"/>
            <a:ext cx="7070103" cy="620567"/>
          </a:xfrm>
        </p:spPr>
        <p:txBody>
          <a:bodyPr/>
          <a:lstStyle/>
          <a:p>
            <a:r>
              <a:rPr lang="en-IN" sz="2800" dirty="0">
                <a:latin typeface="+mn-lt"/>
              </a:rPr>
              <a:t>Objectives of the Project</a:t>
            </a:r>
            <a:endParaRPr lang="en-US" sz="2800" dirty="0">
              <a:latin typeface="+mn-lt"/>
            </a:endParaRPr>
          </a:p>
        </p:txBody>
      </p:sp>
      <p:sp>
        <p:nvSpPr>
          <p:cNvPr id="10" name="TextBox 9">
            <a:extLst>
              <a:ext uri="{FF2B5EF4-FFF2-40B4-BE49-F238E27FC236}">
                <a16:creationId xmlns:a16="http://schemas.microsoft.com/office/drawing/2014/main" id="{DB954AD8-422D-4D32-AE25-ECC3349E85F2}"/>
              </a:ext>
            </a:extLst>
          </p:cNvPr>
          <p:cNvSpPr txBox="1"/>
          <p:nvPr/>
        </p:nvSpPr>
        <p:spPr>
          <a:xfrm>
            <a:off x="603316" y="1201474"/>
            <a:ext cx="6108568" cy="3374322"/>
          </a:xfrm>
          <a:prstGeom prst="rect">
            <a:avLst/>
          </a:prstGeom>
          <a:noFill/>
        </p:spPr>
        <p:txBody>
          <a:bodyPr wrap="square">
            <a:spAutoFit/>
          </a:bodyPr>
          <a:lstStyle/>
          <a:p>
            <a:pPr>
              <a:lnSpc>
                <a:spcPct val="150000"/>
              </a:lnSpc>
            </a:pPr>
            <a:r>
              <a:rPr lang="en-IN" b="1" dirty="0"/>
              <a:t>🔹 Dataset &amp; Pre-processing</a:t>
            </a:r>
          </a:p>
          <a:p>
            <a:pPr marL="342900" indent="-342900">
              <a:lnSpc>
                <a:spcPct val="150000"/>
              </a:lnSpc>
              <a:buFont typeface="+mj-lt"/>
              <a:buAutoNum type="arabicPeriod"/>
            </a:pPr>
            <a:r>
              <a:rPr lang="en-IN" dirty="0"/>
              <a:t>Acquire PCOS transcriptomic datasets</a:t>
            </a:r>
          </a:p>
          <a:p>
            <a:pPr marL="342900" indent="-342900">
              <a:lnSpc>
                <a:spcPct val="150000"/>
              </a:lnSpc>
              <a:buFont typeface="+mj-lt"/>
              <a:buAutoNum type="arabicPeriod"/>
            </a:pPr>
            <a:r>
              <a:rPr lang="en-IN" dirty="0"/>
              <a:t>Microarray pre-processing</a:t>
            </a:r>
          </a:p>
          <a:p>
            <a:pPr marL="342900" indent="-342900">
              <a:lnSpc>
                <a:spcPct val="150000"/>
              </a:lnSpc>
              <a:buFont typeface="+mj-lt"/>
              <a:buAutoNum type="arabicPeriod"/>
            </a:pPr>
            <a:r>
              <a:rPr lang="en-IN" dirty="0"/>
              <a:t>RNA-</a:t>
            </a:r>
            <a:r>
              <a:rPr lang="en-IN" dirty="0" err="1"/>
              <a:t>seq</a:t>
            </a:r>
            <a:r>
              <a:rPr lang="en-IN" dirty="0"/>
              <a:t> pre-processing</a:t>
            </a:r>
          </a:p>
          <a:p>
            <a:pPr marL="342900" indent="-342900">
              <a:lnSpc>
                <a:spcPct val="150000"/>
              </a:lnSpc>
              <a:buFont typeface="+mj-lt"/>
              <a:buAutoNum type="arabicPeriod"/>
            </a:pPr>
            <a:r>
              <a:rPr lang="en-IN" dirty="0"/>
              <a:t>PCA, heatmaps &amp; QC validation</a:t>
            </a:r>
          </a:p>
          <a:p>
            <a:pPr>
              <a:lnSpc>
                <a:spcPct val="150000"/>
              </a:lnSpc>
            </a:pPr>
            <a:r>
              <a:rPr lang="en-IN" b="1" dirty="0"/>
              <a:t>🔹 Differential Expression</a:t>
            </a:r>
          </a:p>
          <a:p>
            <a:pPr marL="342900" indent="-342900">
              <a:lnSpc>
                <a:spcPct val="150000"/>
              </a:lnSpc>
              <a:buFont typeface="+mj-lt"/>
              <a:buAutoNum type="arabicPeriod"/>
            </a:pPr>
            <a:r>
              <a:rPr lang="en-IN" dirty="0"/>
              <a:t>Identify DEGs (</a:t>
            </a:r>
            <a:r>
              <a:rPr lang="en-IN" dirty="0" err="1"/>
              <a:t>limma</a:t>
            </a:r>
            <a:r>
              <a:rPr lang="en-IN" dirty="0"/>
              <a:t> – microarray)</a:t>
            </a:r>
          </a:p>
          <a:p>
            <a:pPr marL="342900" indent="-342900">
              <a:lnSpc>
                <a:spcPct val="150000"/>
              </a:lnSpc>
              <a:buFont typeface="+mj-lt"/>
              <a:buAutoNum type="arabicPeriod"/>
            </a:pPr>
            <a:r>
              <a:rPr lang="en-IN" dirty="0"/>
              <a:t>Identify DEGs (DESeq2 – RNA-</a:t>
            </a:r>
            <a:r>
              <a:rPr lang="en-IN" dirty="0" err="1"/>
              <a:t>seq</a:t>
            </a:r>
            <a:r>
              <a:rPr lang="en-IN" dirty="0"/>
              <a:t>)</a:t>
            </a:r>
          </a:p>
        </p:txBody>
      </p:sp>
      <p:sp>
        <p:nvSpPr>
          <p:cNvPr id="12" name="TextBox 11">
            <a:extLst>
              <a:ext uri="{FF2B5EF4-FFF2-40B4-BE49-F238E27FC236}">
                <a16:creationId xmlns:a16="http://schemas.microsoft.com/office/drawing/2014/main" id="{FE39B13D-CAD5-49B0-AA51-132B454CE44E}"/>
              </a:ext>
            </a:extLst>
          </p:cNvPr>
          <p:cNvSpPr txBox="1"/>
          <p:nvPr/>
        </p:nvSpPr>
        <p:spPr>
          <a:xfrm>
            <a:off x="6080289" y="1201474"/>
            <a:ext cx="6108568" cy="3374322"/>
          </a:xfrm>
          <a:prstGeom prst="rect">
            <a:avLst/>
          </a:prstGeom>
          <a:noFill/>
        </p:spPr>
        <p:txBody>
          <a:bodyPr wrap="square">
            <a:spAutoFit/>
          </a:bodyPr>
          <a:lstStyle/>
          <a:p>
            <a:pPr>
              <a:lnSpc>
                <a:spcPct val="150000"/>
              </a:lnSpc>
            </a:pPr>
            <a:r>
              <a:rPr lang="en-IN" b="1" dirty="0"/>
              <a:t>🔹 Functional Analysis</a:t>
            </a:r>
          </a:p>
          <a:p>
            <a:pPr marL="342900" indent="-342900">
              <a:lnSpc>
                <a:spcPct val="150000"/>
              </a:lnSpc>
              <a:buFont typeface="+mj-lt"/>
              <a:buAutoNum type="arabicPeriod"/>
            </a:pPr>
            <a:r>
              <a:rPr lang="en-IN" dirty="0"/>
              <a:t>GO Biological Process enrichment</a:t>
            </a:r>
          </a:p>
          <a:p>
            <a:pPr marL="342900" indent="-342900">
              <a:lnSpc>
                <a:spcPct val="150000"/>
              </a:lnSpc>
              <a:buFont typeface="+mj-lt"/>
              <a:buAutoNum type="arabicPeriod"/>
            </a:pPr>
            <a:r>
              <a:rPr lang="en-IN" dirty="0"/>
              <a:t>KEGG pathway enrichment</a:t>
            </a:r>
          </a:p>
          <a:p>
            <a:pPr marL="342900" indent="-342900">
              <a:lnSpc>
                <a:spcPct val="150000"/>
              </a:lnSpc>
              <a:buFont typeface="+mj-lt"/>
              <a:buAutoNum type="arabicPeriod"/>
            </a:pPr>
            <a:r>
              <a:rPr lang="en-IN" dirty="0"/>
              <a:t>Cortisol / glucocorticoid pathway integration</a:t>
            </a:r>
          </a:p>
          <a:p>
            <a:pPr>
              <a:lnSpc>
                <a:spcPct val="150000"/>
              </a:lnSpc>
            </a:pPr>
            <a:r>
              <a:rPr lang="en-IN" b="1" dirty="0"/>
              <a:t>🔹 Network Analysis</a:t>
            </a:r>
          </a:p>
          <a:p>
            <a:pPr marL="342900" indent="-342900">
              <a:lnSpc>
                <a:spcPct val="150000"/>
              </a:lnSpc>
              <a:buFont typeface="+mj-lt"/>
              <a:buAutoNum type="arabicPeriod"/>
            </a:pPr>
            <a:r>
              <a:rPr lang="en-IN" dirty="0"/>
              <a:t>STRING PPI construction</a:t>
            </a:r>
          </a:p>
          <a:p>
            <a:pPr marL="342900" indent="-342900">
              <a:lnSpc>
                <a:spcPct val="150000"/>
              </a:lnSpc>
              <a:buFont typeface="+mj-lt"/>
              <a:buAutoNum type="arabicPeriod"/>
            </a:pPr>
            <a:r>
              <a:rPr lang="en-IN" dirty="0"/>
              <a:t>Module detection (MCODE)</a:t>
            </a:r>
          </a:p>
          <a:p>
            <a:pPr marL="342900" indent="-342900">
              <a:lnSpc>
                <a:spcPct val="150000"/>
              </a:lnSpc>
              <a:buFont typeface="+mj-lt"/>
              <a:buAutoNum type="arabicPeriod"/>
            </a:pPr>
            <a:r>
              <a:rPr lang="en-IN" dirty="0"/>
              <a:t>Hub-gene identification (</a:t>
            </a:r>
            <a:r>
              <a:rPr lang="en-IN" dirty="0" err="1"/>
              <a:t>Cytoscape</a:t>
            </a:r>
            <a:r>
              <a:rPr lang="en-IN" dirty="0"/>
              <a:t> + </a:t>
            </a:r>
            <a:r>
              <a:rPr lang="en-IN" dirty="0" err="1"/>
              <a:t>CytoHubba</a:t>
            </a:r>
            <a:r>
              <a:rPr lang="en-IN" dirty="0"/>
              <a:t>)</a:t>
            </a:r>
          </a:p>
        </p:txBody>
      </p:sp>
      <p:pic>
        <p:nvPicPr>
          <p:cNvPr id="3074" name="Picture 2">
            <a:extLst>
              <a:ext uri="{FF2B5EF4-FFF2-40B4-BE49-F238E27FC236}">
                <a16:creationId xmlns:a16="http://schemas.microsoft.com/office/drawing/2014/main" id="{C3BC2130-70BD-4BFB-9E9C-61054110F9D1}"/>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4700"/>
                    </a14:imgEffect>
                  </a14:imgLayer>
                </a14:imgProps>
              </a:ext>
              <a:ext uri="{28A0092B-C50C-407E-A947-70E740481C1C}">
                <a14:useLocalDpi xmlns:a14="http://schemas.microsoft.com/office/drawing/2010/main" val="0"/>
              </a:ext>
            </a:extLst>
          </a:blip>
          <a:srcRect t="21692" b="11387"/>
          <a:stretch/>
        </p:blipFill>
        <p:spPr bwMode="auto">
          <a:xfrm>
            <a:off x="2677604" y="4650970"/>
            <a:ext cx="6456969" cy="22822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CF49639E-3A04-4A14-94A4-40D7C9F0E5C5}"/>
              </a:ext>
            </a:extLst>
          </p:cNvPr>
          <p:cNvSpPr>
            <a:spLocks noGrp="1"/>
          </p:cNvSpPr>
          <p:nvPr>
            <p:ph type="title"/>
          </p:nvPr>
        </p:nvSpPr>
        <p:spPr>
          <a:xfrm>
            <a:off x="560642" y="323805"/>
            <a:ext cx="7427119" cy="718299"/>
          </a:xfrm>
        </p:spPr>
        <p:txBody>
          <a:bodyPr/>
          <a:lstStyle/>
          <a:p>
            <a:r>
              <a:rPr lang="en-IN" dirty="0">
                <a:latin typeface="+mn-lt"/>
              </a:rPr>
              <a:t>1. Datasets Used</a:t>
            </a:r>
            <a:endParaRPr lang="en-US" dirty="0">
              <a:latin typeface="+mn-lt"/>
            </a:endParaRPr>
          </a:p>
        </p:txBody>
      </p:sp>
      <p:graphicFrame>
        <p:nvGraphicFramePr>
          <p:cNvPr id="16" name="Table 15">
            <a:extLst>
              <a:ext uri="{FF2B5EF4-FFF2-40B4-BE49-F238E27FC236}">
                <a16:creationId xmlns:a16="http://schemas.microsoft.com/office/drawing/2014/main" id="{7E9B68D2-7CAB-4824-BDC2-118A48A7DA39}"/>
              </a:ext>
            </a:extLst>
          </p:cNvPr>
          <p:cNvGraphicFramePr>
            <a:graphicFrameLocks noGrp="1"/>
          </p:cNvGraphicFramePr>
          <p:nvPr>
            <p:extLst>
              <p:ext uri="{D42A27DB-BD31-4B8C-83A1-F6EECF244321}">
                <p14:modId xmlns:p14="http://schemas.microsoft.com/office/powerpoint/2010/main" val="2171938341"/>
              </p:ext>
            </p:extLst>
          </p:nvPr>
        </p:nvGraphicFramePr>
        <p:xfrm>
          <a:off x="673206" y="1628166"/>
          <a:ext cx="5901529" cy="1097026"/>
        </p:xfrm>
        <a:graphic>
          <a:graphicData uri="http://schemas.openxmlformats.org/drawingml/2006/table">
            <a:tbl>
              <a:tblPr>
                <a:tableStyleId>{3C2FFA5D-87B4-456A-9821-1D502468CF0F}</a:tableStyleId>
              </a:tblPr>
              <a:tblGrid>
                <a:gridCol w="1023330">
                  <a:extLst>
                    <a:ext uri="{9D8B030D-6E8A-4147-A177-3AD203B41FA5}">
                      <a16:colId xmlns:a16="http://schemas.microsoft.com/office/drawing/2014/main" val="1318827471"/>
                    </a:ext>
                  </a:extLst>
                </a:gridCol>
                <a:gridCol w="933912">
                  <a:extLst>
                    <a:ext uri="{9D8B030D-6E8A-4147-A177-3AD203B41FA5}">
                      <a16:colId xmlns:a16="http://schemas.microsoft.com/office/drawing/2014/main" val="1392463880"/>
                    </a:ext>
                  </a:extLst>
                </a:gridCol>
                <a:gridCol w="1559832">
                  <a:extLst>
                    <a:ext uri="{9D8B030D-6E8A-4147-A177-3AD203B41FA5}">
                      <a16:colId xmlns:a16="http://schemas.microsoft.com/office/drawing/2014/main" val="2342036338"/>
                    </a:ext>
                  </a:extLst>
                </a:gridCol>
                <a:gridCol w="904106">
                  <a:extLst>
                    <a:ext uri="{9D8B030D-6E8A-4147-A177-3AD203B41FA5}">
                      <a16:colId xmlns:a16="http://schemas.microsoft.com/office/drawing/2014/main" val="686260204"/>
                    </a:ext>
                  </a:extLst>
                </a:gridCol>
                <a:gridCol w="695466">
                  <a:extLst>
                    <a:ext uri="{9D8B030D-6E8A-4147-A177-3AD203B41FA5}">
                      <a16:colId xmlns:a16="http://schemas.microsoft.com/office/drawing/2014/main" val="1524246999"/>
                    </a:ext>
                  </a:extLst>
                </a:gridCol>
                <a:gridCol w="784883">
                  <a:extLst>
                    <a:ext uri="{9D8B030D-6E8A-4147-A177-3AD203B41FA5}">
                      <a16:colId xmlns:a16="http://schemas.microsoft.com/office/drawing/2014/main" val="3510663073"/>
                    </a:ext>
                  </a:extLst>
                </a:gridCol>
              </a:tblGrid>
              <a:tr h="161925">
                <a:tc>
                  <a:txBody>
                    <a:bodyPr/>
                    <a:lstStyle/>
                    <a:p>
                      <a:pPr algn="ctr">
                        <a:lnSpc>
                          <a:spcPct val="115000"/>
                        </a:lnSpc>
                        <a:spcBef>
                          <a:spcPts val="1200"/>
                        </a:spcBef>
                        <a:spcAft>
                          <a:spcPts val="1200"/>
                        </a:spcAft>
                      </a:pPr>
                      <a:r>
                        <a:rPr lang="en-IN" sz="1100" b="1">
                          <a:effectLst/>
                        </a:rPr>
                        <a:t>Dataset</a:t>
                      </a:r>
                      <a:endParaRPr lang="en-IN" sz="1100" b="1">
                        <a:effectLst/>
                        <a:latin typeface="Arial" panose="020B0604020202020204" pitchFamily="34" charset="0"/>
                        <a:ea typeface="Arial" panose="020B0604020202020204" pitchFamily="34" charset="0"/>
                      </a:endParaRPr>
                    </a:p>
                  </a:txBody>
                  <a:tcPr marL="63500" marR="63500" marT="0" marB="0"/>
                </a:tc>
                <a:tc>
                  <a:txBody>
                    <a:bodyPr/>
                    <a:lstStyle/>
                    <a:p>
                      <a:pPr algn="ctr">
                        <a:lnSpc>
                          <a:spcPct val="115000"/>
                        </a:lnSpc>
                        <a:spcBef>
                          <a:spcPts val="1200"/>
                        </a:spcBef>
                        <a:spcAft>
                          <a:spcPts val="1200"/>
                        </a:spcAft>
                      </a:pPr>
                      <a:r>
                        <a:rPr lang="en-IN" sz="1100" b="1">
                          <a:effectLst/>
                        </a:rPr>
                        <a:t>Platform</a:t>
                      </a:r>
                      <a:endParaRPr lang="en-IN" sz="1100" b="1">
                        <a:effectLst/>
                        <a:latin typeface="Arial" panose="020B0604020202020204" pitchFamily="34" charset="0"/>
                        <a:ea typeface="Arial" panose="020B0604020202020204" pitchFamily="34" charset="0"/>
                      </a:endParaRPr>
                    </a:p>
                  </a:txBody>
                  <a:tcPr marL="63500" marR="63500" marT="0" marB="0"/>
                </a:tc>
                <a:tc>
                  <a:txBody>
                    <a:bodyPr/>
                    <a:lstStyle/>
                    <a:p>
                      <a:pPr algn="ctr">
                        <a:lnSpc>
                          <a:spcPct val="115000"/>
                        </a:lnSpc>
                        <a:spcBef>
                          <a:spcPts val="1200"/>
                        </a:spcBef>
                        <a:spcAft>
                          <a:spcPts val="1200"/>
                        </a:spcAft>
                      </a:pPr>
                      <a:r>
                        <a:rPr lang="en-IN" sz="1100" b="1">
                          <a:effectLst/>
                        </a:rPr>
                        <a:t>Tissue</a:t>
                      </a:r>
                      <a:endParaRPr lang="en-IN" sz="1100" b="1">
                        <a:effectLst/>
                        <a:latin typeface="Arial" panose="020B0604020202020204" pitchFamily="34" charset="0"/>
                        <a:ea typeface="Arial" panose="020B0604020202020204" pitchFamily="34" charset="0"/>
                      </a:endParaRPr>
                    </a:p>
                  </a:txBody>
                  <a:tcPr marL="63500" marR="63500" marT="0" marB="0"/>
                </a:tc>
                <a:tc>
                  <a:txBody>
                    <a:bodyPr/>
                    <a:lstStyle/>
                    <a:p>
                      <a:pPr algn="ctr">
                        <a:lnSpc>
                          <a:spcPct val="115000"/>
                        </a:lnSpc>
                        <a:spcBef>
                          <a:spcPts val="1200"/>
                        </a:spcBef>
                        <a:spcAft>
                          <a:spcPts val="1200"/>
                        </a:spcAft>
                      </a:pPr>
                      <a:r>
                        <a:rPr lang="en-IN" sz="1100" b="1">
                          <a:effectLst/>
                        </a:rPr>
                        <a:t>Total Samples</a:t>
                      </a:r>
                      <a:endParaRPr lang="en-IN" sz="1100" b="1">
                        <a:effectLst/>
                        <a:latin typeface="Arial" panose="020B0604020202020204" pitchFamily="34" charset="0"/>
                        <a:ea typeface="Arial" panose="020B0604020202020204" pitchFamily="34" charset="0"/>
                      </a:endParaRPr>
                    </a:p>
                  </a:txBody>
                  <a:tcPr marL="63500" marR="63500" marT="0" marB="0"/>
                </a:tc>
                <a:tc>
                  <a:txBody>
                    <a:bodyPr/>
                    <a:lstStyle/>
                    <a:p>
                      <a:pPr algn="ctr">
                        <a:lnSpc>
                          <a:spcPct val="115000"/>
                        </a:lnSpc>
                        <a:spcBef>
                          <a:spcPts val="1200"/>
                        </a:spcBef>
                        <a:spcAft>
                          <a:spcPts val="1200"/>
                        </a:spcAft>
                      </a:pPr>
                      <a:r>
                        <a:rPr lang="en-IN" sz="1100" b="1">
                          <a:effectLst/>
                        </a:rPr>
                        <a:t>PCOS</a:t>
                      </a:r>
                      <a:endParaRPr lang="en-IN" sz="1100" b="1">
                        <a:effectLst/>
                        <a:latin typeface="Arial" panose="020B0604020202020204" pitchFamily="34" charset="0"/>
                        <a:ea typeface="Arial" panose="020B0604020202020204" pitchFamily="34" charset="0"/>
                      </a:endParaRPr>
                    </a:p>
                  </a:txBody>
                  <a:tcPr marL="63500" marR="63500" marT="0" marB="0"/>
                </a:tc>
                <a:tc>
                  <a:txBody>
                    <a:bodyPr/>
                    <a:lstStyle/>
                    <a:p>
                      <a:pPr algn="ctr">
                        <a:lnSpc>
                          <a:spcPct val="115000"/>
                        </a:lnSpc>
                        <a:spcBef>
                          <a:spcPts val="1200"/>
                        </a:spcBef>
                        <a:spcAft>
                          <a:spcPts val="1200"/>
                        </a:spcAft>
                      </a:pPr>
                      <a:r>
                        <a:rPr lang="en-IN" sz="1100" b="1" dirty="0">
                          <a:effectLst/>
                        </a:rPr>
                        <a:t>Control</a:t>
                      </a:r>
                      <a:endParaRPr lang="en-IN" sz="1100" b="1" dirty="0">
                        <a:effectLst/>
                        <a:latin typeface="Arial" panose="020B0604020202020204" pitchFamily="34" charset="0"/>
                        <a:ea typeface="Arial" panose="020B0604020202020204" pitchFamily="34" charset="0"/>
                      </a:endParaRPr>
                    </a:p>
                  </a:txBody>
                  <a:tcPr marL="63500" marR="63500" marT="0" marB="0"/>
                </a:tc>
                <a:extLst>
                  <a:ext uri="{0D108BD9-81ED-4DB2-BD59-A6C34878D82A}">
                    <a16:rowId xmlns:a16="http://schemas.microsoft.com/office/drawing/2014/main" val="2760411032"/>
                  </a:ext>
                </a:extLst>
              </a:tr>
              <a:tr h="161925">
                <a:tc>
                  <a:txBody>
                    <a:bodyPr/>
                    <a:lstStyle/>
                    <a:p>
                      <a:pPr algn="ctr">
                        <a:lnSpc>
                          <a:spcPct val="115000"/>
                        </a:lnSpc>
                        <a:spcBef>
                          <a:spcPts val="1200"/>
                        </a:spcBef>
                        <a:spcAft>
                          <a:spcPts val="1200"/>
                        </a:spcAft>
                      </a:pPr>
                      <a:r>
                        <a:rPr lang="en-IN" sz="1100">
                          <a:effectLst/>
                        </a:rPr>
                        <a:t>GSE114419</a:t>
                      </a:r>
                      <a:endParaRPr lang="en-IN" sz="1100">
                        <a:effectLst/>
                        <a:latin typeface="Arial" panose="020B0604020202020204" pitchFamily="34" charset="0"/>
                        <a:ea typeface="Arial" panose="020B0604020202020204" pitchFamily="34" charset="0"/>
                      </a:endParaRPr>
                    </a:p>
                  </a:txBody>
                  <a:tcPr marL="63500" marR="63500" marT="0" marB="0"/>
                </a:tc>
                <a:tc>
                  <a:txBody>
                    <a:bodyPr/>
                    <a:lstStyle/>
                    <a:p>
                      <a:pPr algn="ctr">
                        <a:lnSpc>
                          <a:spcPct val="115000"/>
                        </a:lnSpc>
                        <a:spcBef>
                          <a:spcPts val="1200"/>
                        </a:spcBef>
                        <a:spcAft>
                          <a:spcPts val="1200"/>
                        </a:spcAft>
                      </a:pPr>
                      <a:r>
                        <a:rPr lang="en-IN" sz="1100">
                          <a:effectLst/>
                        </a:rPr>
                        <a:t>GPL17586</a:t>
                      </a:r>
                      <a:endParaRPr lang="en-IN" sz="1100">
                        <a:effectLst/>
                        <a:latin typeface="Arial" panose="020B0604020202020204" pitchFamily="34" charset="0"/>
                        <a:ea typeface="Arial" panose="020B0604020202020204" pitchFamily="34" charset="0"/>
                      </a:endParaRPr>
                    </a:p>
                  </a:txBody>
                  <a:tcPr marL="63500" marR="63500" marT="0" marB="0"/>
                </a:tc>
                <a:tc>
                  <a:txBody>
                    <a:bodyPr/>
                    <a:lstStyle/>
                    <a:p>
                      <a:pPr algn="ctr">
                        <a:lnSpc>
                          <a:spcPct val="115000"/>
                        </a:lnSpc>
                        <a:spcBef>
                          <a:spcPts val="1200"/>
                        </a:spcBef>
                        <a:spcAft>
                          <a:spcPts val="1200"/>
                        </a:spcAft>
                      </a:pPr>
                      <a:r>
                        <a:rPr lang="en-IN" sz="1100">
                          <a:effectLst/>
                        </a:rPr>
                        <a:t>Endometrium</a:t>
                      </a:r>
                      <a:endParaRPr lang="en-IN" sz="1100">
                        <a:effectLst/>
                        <a:latin typeface="Arial" panose="020B0604020202020204" pitchFamily="34" charset="0"/>
                        <a:ea typeface="Arial" panose="020B0604020202020204" pitchFamily="34" charset="0"/>
                      </a:endParaRPr>
                    </a:p>
                  </a:txBody>
                  <a:tcPr marL="63500" marR="63500" marT="0" marB="0"/>
                </a:tc>
                <a:tc>
                  <a:txBody>
                    <a:bodyPr/>
                    <a:lstStyle/>
                    <a:p>
                      <a:pPr algn="ctr">
                        <a:lnSpc>
                          <a:spcPct val="115000"/>
                        </a:lnSpc>
                        <a:spcBef>
                          <a:spcPts val="1200"/>
                        </a:spcBef>
                        <a:spcAft>
                          <a:spcPts val="1200"/>
                        </a:spcAft>
                      </a:pPr>
                      <a:r>
                        <a:rPr lang="en-IN" sz="1100">
                          <a:effectLst/>
                        </a:rPr>
                        <a:t>6</a:t>
                      </a:r>
                      <a:endParaRPr lang="en-IN" sz="1100">
                        <a:effectLst/>
                        <a:latin typeface="Arial" panose="020B0604020202020204" pitchFamily="34" charset="0"/>
                        <a:ea typeface="Arial" panose="020B0604020202020204" pitchFamily="34" charset="0"/>
                      </a:endParaRPr>
                    </a:p>
                  </a:txBody>
                  <a:tcPr marL="63500" marR="63500" marT="0" marB="0"/>
                </a:tc>
                <a:tc>
                  <a:txBody>
                    <a:bodyPr/>
                    <a:lstStyle/>
                    <a:p>
                      <a:pPr algn="ctr">
                        <a:lnSpc>
                          <a:spcPct val="115000"/>
                        </a:lnSpc>
                        <a:spcBef>
                          <a:spcPts val="1200"/>
                        </a:spcBef>
                        <a:spcAft>
                          <a:spcPts val="1200"/>
                        </a:spcAft>
                      </a:pPr>
                      <a:r>
                        <a:rPr lang="en-IN" sz="1100">
                          <a:effectLst/>
                        </a:rPr>
                        <a:t>3</a:t>
                      </a:r>
                      <a:endParaRPr lang="en-IN" sz="1100">
                        <a:effectLst/>
                        <a:latin typeface="Arial" panose="020B0604020202020204" pitchFamily="34" charset="0"/>
                        <a:ea typeface="Arial" panose="020B0604020202020204" pitchFamily="34" charset="0"/>
                      </a:endParaRPr>
                    </a:p>
                  </a:txBody>
                  <a:tcPr marL="63500" marR="63500" marT="0" marB="0"/>
                </a:tc>
                <a:tc>
                  <a:txBody>
                    <a:bodyPr/>
                    <a:lstStyle/>
                    <a:p>
                      <a:pPr algn="ctr">
                        <a:lnSpc>
                          <a:spcPct val="115000"/>
                        </a:lnSpc>
                        <a:spcBef>
                          <a:spcPts val="1200"/>
                        </a:spcBef>
                        <a:spcAft>
                          <a:spcPts val="1200"/>
                        </a:spcAft>
                      </a:pPr>
                      <a:r>
                        <a:rPr lang="en-IN" sz="1100">
                          <a:effectLst/>
                        </a:rPr>
                        <a:t>3</a:t>
                      </a:r>
                      <a:endParaRPr lang="en-IN" sz="1100">
                        <a:effectLst/>
                        <a:latin typeface="Arial" panose="020B0604020202020204" pitchFamily="34" charset="0"/>
                        <a:ea typeface="Arial" panose="020B0604020202020204" pitchFamily="34" charset="0"/>
                      </a:endParaRPr>
                    </a:p>
                  </a:txBody>
                  <a:tcPr marL="63500" marR="63500" marT="0" marB="0"/>
                </a:tc>
                <a:extLst>
                  <a:ext uri="{0D108BD9-81ED-4DB2-BD59-A6C34878D82A}">
                    <a16:rowId xmlns:a16="http://schemas.microsoft.com/office/drawing/2014/main" val="2114837443"/>
                  </a:ext>
                </a:extLst>
              </a:tr>
              <a:tr h="161925">
                <a:tc>
                  <a:txBody>
                    <a:bodyPr/>
                    <a:lstStyle/>
                    <a:p>
                      <a:pPr algn="ctr">
                        <a:lnSpc>
                          <a:spcPct val="115000"/>
                        </a:lnSpc>
                        <a:spcBef>
                          <a:spcPts val="1200"/>
                        </a:spcBef>
                        <a:spcAft>
                          <a:spcPts val="1200"/>
                        </a:spcAft>
                      </a:pPr>
                      <a:r>
                        <a:rPr lang="en-IN" sz="1100">
                          <a:effectLst/>
                        </a:rPr>
                        <a:t>GSE137684</a:t>
                      </a:r>
                      <a:endParaRPr lang="en-IN" sz="1100">
                        <a:effectLst/>
                        <a:latin typeface="Arial" panose="020B0604020202020204" pitchFamily="34" charset="0"/>
                        <a:ea typeface="Arial" panose="020B0604020202020204" pitchFamily="34" charset="0"/>
                      </a:endParaRPr>
                    </a:p>
                  </a:txBody>
                  <a:tcPr marL="63500" marR="63500" marT="0" marB="0"/>
                </a:tc>
                <a:tc>
                  <a:txBody>
                    <a:bodyPr/>
                    <a:lstStyle/>
                    <a:p>
                      <a:pPr algn="ctr">
                        <a:lnSpc>
                          <a:spcPct val="115000"/>
                        </a:lnSpc>
                        <a:spcBef>
                          <a:spcPts val="1200"/>
                        </a:spcBef>
                        <a:spcAft>
                          <a:spcPts val="1200"/>
                        </a:spcAft>
                      </a:pPr>
                      <a:r>
                        <a:rPr lang="en-IN" sz="1100">
                          <a:effectLst/>
                        </a:rPr>
                        <a:t>GPL17077</a:t>
                      </a:r>
                      <a:endParaRPr lang="en-IN" sz="1100">
                        <a:effectLst/>
                        <a:latin typeface="Arial" panose="020B0604020202020204" pitchFamily="34" charset="0"/>
                        <a:ea typeface="Arial" panose="020B0604020202020204" pitchFamily="34" charset="0"/>
                      </a:endParaRPr>
                    </a:p>
                  </a:txBody>
                  <a:tcPr marL="63500" marR="63500" marT="0" marB="0"/>
                </a:tc>
                <a:tc>
                  <a:txBody>
                    <a:bodyPr/>
                    <a:lstStyle/>
                    <a:p>
                      <a:pPr algn="ctr">
                        <a:lnSpc>
                          <a:spcPct val="115000"/>
                        </a:lnSpc>
                        <a:spcBef>
                          <a:spcPts val="1200"/>
                        </a:spcBef>
                        <a:spcAft>
                          <a:spcPts val="1200"/>
                        </a:spcAft>
                      </a:pPr>
                      <a:r>
                        <a:rPr lang="en-IN" sz="1100">
                          <a:effectLst/>
                        </a:rPr>
                        <a:t>Ovary (Granulosa)</a:t>
                      </a:r>
                      <a:endParaRPr lang="en-IN" sz="1100">
                        <a:effectLst/>
                        <a:latin typeface="Arial" panose="020B0604020202020204" pitchFamily="34" charset="0"/>
                        <a:ea typeface="Arial" panose="020B0604020202020204" pitchFamily="34" charset="0"/>
                      </a:endParaRPr>
                    </a:p>
                  </a:txBody>
                  <a:tcPr marL="63500" marR="63500" marT="0" marB="0"/>
                </a:tc>
                <a:tc>
                  <a:txBody>
                    <a:bodyPr/>
                    <a:lstStyle/>
                    <a:p>
                      <a:pPr algn="ctr">
                        <a:lnSpc>
                          <a:spcPct val="115000"/>
                        </a:lnSpc>
                        <a:spcBef>
                          <a:spcPts val="1200"/>
                        </a:spcBef>
                        <a:spcAft>
                          <a:spcPts val="1200"/>
                        </a:spcAft>
                      </a:pPr>
                      <a:r>
                        <a:rPr lang="en-IN" sz="1100">
                          <a:effectLst/>
                        </a:rPr>
                        <a:t>12</a:t>
                      </a:r>
                      <a:endParaRPr lang="en-IN" sz="1100">
                        <a:effectLst/>
                        <a:latin typeface="Arial" panose="020B0604020202020204" pitchFamily="34" charset="0"/>
                        <a:ea typeface="Arial" panose="020B0604020202020204" pitchFamily="34" charset="0"/>
                      </a:endParaRPr>
                    </a:p>
                  </a:txBody>
                  <a:tcPr marL="63500" marR="63500" marT="0" marB="0"/>
                </a:tc>
                <a:tc>
                  <a:txBody>
                    <a:bodyPr/>
                    <a:lstStyle/>
                    <a:p>
                      <a:pPr algn="ctr">
                        <a:lnSpc>
                          <a:spcPct val="115000"/>
                        </a:lnSpc>
                        <a:spcBef>
                          <a:spcPts val="1200"/>
                        </a:spcBef>
                        <a:spcAft>
                          <a:spcPts val="1200"/>
                        </a:spcAft>
                      </a:pPr>
                      <a:r>
                        <a:rPr lang="en-IN" sz="1100">
                          <a:effectLst/>
                        </a:rPr>
                        <a:t>6</a:t>
                      </a:r>
                      <a:endParaRPr lang="en-IN" sz="1100">
                        <a:effectLst/>
                        <a:latin typeface="Arial" panose="020B0604020202020204" pitchFamily="34" charset="0"/>
                        <a:ea typeface="Arial" panose="020B0604020202020204" pitchFamily="34" charset="0"/>
                      </a:endParaRPr>
                    </a:p>
                  </a:txBody>
                  <a:tcPr marL="63500" marR="63500" marT="0" marB="0"/>
                </a:tc>
                <a:tc>
                  <a:txBody>
                    <a:bodyPr/>
                    <a:lstStyle/>
                    <a:p>
                      <a:pPr algn="ctr">
                        <a:lnSpc>
                          <a:spcPct val="115000"/>
                        </a:lnSpc>
                        <a:spcBef>
                          <a:spcPts val="1200"/>
                        </a:spcBef>
                        <a:spcAft>
                          <a:spcPts val="1200"/>
                        </a:spcAft>
                      </a:pPr>
                      <a:r>
                        <a:rPr lang="en-IN" sz="1100">
                          <a:effectLst/>
                        </a:rPr>
                        <a:t>6</a:t>
                      </a:r>
                      <a:endParaRPr lang="en-IN" sz="1100">
                        <a:effectLst/>
                        <a:latin typeface="Arial" panose="020B0604020202020204" pitchFamily="34" charset="0"/>
                        <a:ea typeface="Arial" panose="020B0604020202020204" pitchFamily="34" charset="0"/>
                      </a:endParaRPr>
                    </a:p>
                  </a:txBody>
                  <a:tcPr marL="63500" marR="63500" marT="0" marB="0"/>
                </a:tc>
                <a:extLst>
                  <a:ext uri="{0D108BD9-81ED-4DB2-BD59-A6C34878D82A}">
                    <a16:rowId xmlns:a16="http://schemas.microsoft.com/office/drawing/2014/main" val="3744223345"/>
                  </a:ext>
                </a:extLst>
              </a:tr>
              <a:tr h="161925">
                <a:tc>
                  <a:txBody>
                    <a:bodyPr/>
                    <a:lstStyle/>
                    <a:p>
                      <a:pPr algn="ctr">
                        <a:lnSpc>
                          <a:spcPct val="115000"/>
                        </a:lnSpc>
                        <a:spcBef>
                          <a:spcPts val="1200"/>
                        </a:spcBef>
                        <a:spcAft>
                          <a:spcPts val="1200"/>
                        </a:spcAft>
                      </a:pPr>
                      <a:r>
                        <a:rPr lang="en-IN" sz="1100">
                          <a:effectLst/>
                        </a:rPr>
                        <a:t>GSE277906</a:t>
                      </a:r>
                      <a:endParaRPr lang="en-IN" sz="1100">
                        <a:effectLst/>
                        <a:latin typeface="Arial" panose="020B0604020202020204" pitchFamily="34" charset="0"/>
                        <a:ea typeface="Arial" panose="020B0604020202020204" pitchFamily="34" charset="0"/>
                      </a:endParaRPr>
                    </a:p>
                  </a:txBody>
                  <a:tcPr marL="63500" marR="63500" marT="0" marB="0"/>
                </a:tc>
                <a:tc>
                  <a:txBody>
                    <a:bodyPr/>
                    <a:lstStyle/>
                    <a:p>
                      <a:pPr algn="ctr">
                        <a:lnSpc>
                          <a:spcPct val="115000"/>
                        </a:lnSpc>
                        <a:spcBef>
                          <a:spcPts val="1200"/>
                        </a:spcBef>
                        <a:spcAft>
                          <a:spcPts val="1200"/>
                        </a:spcAft>
                      </a:pPr>
                      <a:r>
                        <a:rPr lang="en-IN" sz="1100">
                          <a:effectLst/>
                        </a:rPr>
                        <a:t>GPL24676</a:t>
                      </a:r>
                      <a:endParaRPr lang="en-IN" sz="1100">
                        <a:effectLst/>
                        <a:latin typeface="Arial" panose="020B0604020202020204" pitchFamily="34" charset="0"/>
                        <a:ea typeface="Arial" panose="020B0604020202020204" pitchFamily="34" charset="0"/>
                      </a:endParaRPr>
                    </a:p>
                  </a:txBody>
                  <a:tcPr marL="63500" marR="63500" marT="0" marB="0"/>
                </a:tc>
                <a:tc>
                  <a:txBody>
                    <a:bodyPr/>
                    <a:lstStyle/>
                    <a:p>
                      <a:pPr algn="ctr">
                        <a:lnSpc>
                          <a:spcPct val="115000"/>
                        </a:lnSpc>
                        <a:spcBef>
                          <a:spcPts val="1200"/>
                        </a:spcBef>
                        <a:spcAft>
                          <a:spcPts val="1200"/>
                        </a:spcAft>
                      </a:pPr>
                      <a:r>
                        <a:rPr lang="en-IN" sz="1100">
                          <a:effectLst/>
                        </a:rPr>
                        <a:t>Reproductive/Metabolic</a:t>
                      </a:r>
                      <a:endParaRPr lang="en-IN" sz="1100">
                        <a:effectLst/>
                        <a:latin typeface="Arial" panose="020B0604020202020204" pitchFamily="34" charset="0"/>
                        <a:ea typeface="Arial" panose="020B0604020202020204" pitchFamily="34" charset="0"/>
                      </a:endParaRPr>
                    </a:p>
                  </a:txBody>
                  <a:tcPr marL="63500" marR="63500" marT="0" marB="0"/>
                </a:tc>
                <a:tc>
                  <a:txBody>
                    <a:bodyPr/>
                    <a:lstStyle/>
                    <a:p>
                      <a:pPr algn="ctr">
                        <a:lnSpc>
                          <a:spcPct val="115000"/>
                        </a:lnSpc>
                        <a:spcBef>
                          <a:spcPts val="1200"/>
                        </a:spcBef>
                        <a:spcAft>
                          <a:spcPts val="1200"/>
                        </a:spcAft>
                      </a:pPr>
                      <a:r>
                        <a:rPr lang="en-IN" sz="1100">
                          <a:effectLst/>
                        </a:rPr>
                        <a:t>40</a:t>
                      </a:r>
                      <a:endParaRPr lang="en-IN" sz="1100">
                        <a:effectLst/>
                        <a:latin typeface="Arial" panose="020B0604020202020204" pitchFamily="34" charset="0"/>
                        <a:ea typeface="Arial" panose="020B0604020202020204" pitchFamily="34" charset="0"/>
                      </a:endParaRPr>
                    </a:p>
                  </a:txBody>
                  <a:tcPr marL="63500" marR="63500" marT="0" marB="0"/>
                </a:tc>
                <a:tc>
                  <a:txBody>
                    <a:bodyPr/>
                    <a:lstStyle/>
                    <a:p>
                      <a:pPr algn="ctr">
                        <a:lnSpc>
                          <a:spcPct val="115000"/>
                        </a:lnSpc>
                        <a:spcBef>
                          <a:spcPts val="1200"/>
                        </a:spcBef>
                        <a:spcAft>
                          <a:spcPts val="1200"/>
                        </a:spcAft>
                      </a:pPr>
                      <a:r>
                        <a:rPr lang="en-IN" sz="1100">
                          <a:effectLst/>
                        </a:rPr>
                        <a:t>20</a:t>
                      </a:r>
                      <a:endParaRPr lang="en-IN" sz="1100">
                        <a:effectLst/>
                        <a:latin typeface="Arial" panose="020B0604020202020204" pitchFamily="34" charset="0"/>
                        <a:ea typeface="Arial" panose="020B0604020202020204" pitchFamily="34" charset="0"/>
                      </a:endParaRPr>
                    </a:p>
                  </a:txBody>
                  <a:tcPr marL="63500" marR="63500" marT="0" marB="0"/>
                </a:tc>
                <a:tc>
                  <a:txBody>
                    <a:bodyPr/>
                    <a:lstStyle/>
                    <a:p>
                      <a:pPr algn="ctr">
                        <a:lnSpc>
                          <a:spcPct val="115000"/>
                        </a:lnSpc>
                        <a:spcBef>
                          <a:spcPts val="1200"/>
                        </a:spcBef>
                        <a:spcAft>
                          <a:spcPts val="1200"/>
                        </a:spcAft>
                      </a:pPr>
                      <a:r>
                        <a:rPr lang="en-IN" sz="1100">
                          <a:effectLst/>
                        </a:rPr>
                        <a:t>20</a:t>
                      </a:r>
                      <a:endParaRPr lang="en-IN" sz="1100">
                        <a:effectLst/>
                        <a:latin typeface="Arial" panose="020B0604020202020204" pitchFamily="34" charset="0"/>
                        <a:ea typeface="Arial" panose="020B0604020202020204" pitchFamily="34" charset="0"/>
                      </a:endParaRPr>
                    </a:p>
                  </a:txBody>
                  <a:tcPr marL="63500" marR="63500" marT="0" marB="0"/>
                </a:tc>
                <a:extLst>
                  <a:ext uri="{0D108BD9-81ED-4DB2-BD59-A6C34878D82A}">
                    <a16:rowId xmlns:a16="http://schemas.microsoft.com/office/drawing/2014/main" val="3577867795"/>
                  </a:ext>
                </a:extLst>
              </a:tr>
              <a:tr h="161925">
                <a:tc>
                  <a:txBody>
                    <a:bodyPr/>
                    <a:lstStyle/>
                    <a:p>
                      <a:pPr algn="ctr">
                        <a:lnSpc>
                          <a:spcPct val="115000"/>
                        </a:lnSpc>
                        <a:spcBef>
                          <a:spcPts val="1200"/>
                        </a:spcBef>
                        <a:spcAft>
                          <a:spcPts val="1200"/>
                        </a:spcAft>
                      </a:pPr>
                      <a:r>
                        <a:rPr lang="en-IN" sz="1100">
                          <a:effectLst/>
                        </a:rPr>
                        <a:t>GSE98421</a:t>
                      </a:r>
                      <a:endParaRPr lang="en-IN" sz="1100">
                        <a:effectLst/>
                        <a:latin typeface="Arial" panose="020B0604020202020204" pitchFamily="34" charset="0"/>
                        <a:ea typeface="Arial" panose="020B0604020202020204" pitchFamily="34" charset="0"/>
                      </a:endParaRPr>
                    </a:p>
                  </a:txBody>
                  <a:tcPr marL="63500" marR="63500" marT="0" marB="0"/>
                </a:tc>
                <a:tc>
                  <a:txBody>
                    <a:bodyPr/>
                    <a:lstStyle/>
                    <a:p>
                      <a:pPr algn="ctr">
                        <a:lnSpc>
                          <a:spcPct val="115000"/>
                        </a:lnSpc>
                        <a:spcBef>
                          <a:spcPts val="1200"/>
                        </a:spcBef>
                        <a:spcAft>
                          <a:spcPts val="1200"/>
                        </a:spcAft>
                      </a:pPr>
                      <a:r>
                        <a:rPr lang="en-IN" sz="1100">
                          <a:effectLst/>
                        </a:rPr>
                        <a:t>GPL570</a:t>
                      </a:r>
                      <a:endParaRPr lang="en-IN" sz="1100">
                        <a:effectLst/>
                        <a:latin typeface="Arial" panose="020B0604020202020204" pitchFamily="34" charset="0"/>
                        <a:ea typeface="Arial" panose="020B0604020202020204" pitchFamily="34" charset="0"/>
                      </a:endParaRPr>
                    </a:p>
                  </a:txBody>
                  <a:tcPr marL="63500" marR="63500" marT="0" marB="0"/>
                </a:tc>
                <a:tc>
                  <a:txBody>
                    <a:bodyPr/>
                    <a:lstStyle/>
                    <a:p>
                      <a:pPr algn="ctr">
                        <a:lnSpc>
                          <a:spcPct val="115000"/>
                        </a:lnSpc>
                        <a:spcBef>
                          <a:spcPts val="1200"/>
                        </a:spcBef>
                        <a:spcAft>
                          <a:spcPts val="1200"/>
                        </a:spcAft>
                      </a:pPr>
                      <a:r>
                        <a:rPr lang="en-IN" sz="1100" dirty="0">
                          <a:effectLst/>
                        </a:rPr>
                        <a:t>Adipose tissue</a:t>
                      </a:r>
                      <a:endParaRPr lang="en-IN" sz="1100" dirty="0">
                        <a:effectLst/>
                        <a:latin typeface="Arial" panose="020B0604020202020204" pitchFamily="34" charset="0"/>
                        <a:ea typeface="Arial" panose="020B0604020202020204" pitchFamily="34" charset="0"/>
                      </a:endParaRPr>
                    </a:p>
                  </a:txBody>
                  <a:tcPr marL="63500" marR="63500" marT="0" marB="0"/>
                </a:tc>
                <a:tc>
                  <a:txBody>
                    <a:bodyPr/>
                    <a:lstStyle/>
                    <a:p>
                      <a:pPr algn="ctr">
                        <a:lnSpc>
                          <a:spcPct val="115000"/>
                        </a:lnSpc>
                        <a:spcBef>
                          <a:spcPts val="1200"/>
                        </a:spcBef>
                        <a:spcAft>
                          <a:spcPts val="1200"/>
                        </a:spcAft>
                      </a:pPr>
                      <a:r>
                        <a:rPr lang="en-IN" sz="1100">
                          <a:effectLst/>
                        </a:rPr>
                        <a:t>8</a:t>
                      </a:r>
                      <a:endParaRPr lang="en-IN" sz="1100">
                        <a:effectLst/>
                        <a:latin typeface="Arial" panose="020B0604020202020204" pitchFamily="34" charset="0"/>
                        <a:ea typeface="Arial" panose="020B0604020202020204" pitchFamily="34" charset="0"/>
                      </a:endParaRPr>
                    </a:p>
                  </a:txBody>
                  <a:tcPr marL="63500" marR="63500" marT="0" marB="0"/>
                </a:tc>
                <a:tc>
                  <a:txBody>
                    <a:bodyPr/>
                    <a:lstStyle/>
                    <a:p>
                      <a:pPr algn="ctr">
                        <a:lnSpc>
                          <a:spcPct val="115000"/>
                        </a:lnSpc>
                        <a:spcBef>
                          <a:spcPts val="1200"/>
                        </a:spcBef>
                        <a:spcAft>
                          <a:spcPts val="1200"/>
                        </a:spcAft>
                      </a:pPr>
                      <a:r>
                        <a:rPr lang="en-IN" sz="1100">
                          <a:effectLst/>
                        </a:rPr>
                        <a:t>4</a:t>
                      </a:r>
                      <a:endParaRPr lang="en-IN" sz="1100">
                        <a:effectLst/>
                        <a:latin typeface="Arial" panose="020B0604020202020204" pitchFamily="34" charset="0"/>
                        <a:ea typeface="Arial" panose="020B0604020202020204" pitchFamily="34" charset="0"/>
                      </a:endParaRPr>
                    </a:p>
                  </a:txBody>
                  <a:tcPr marL="63500" marR="63500" marT="0" marB="0"/>
                </a:tc>
                <a:tc>
                  <a:txBody>
                    <a:bodyPr/>
                    <a:lstStyle/>
                    <a:p>
                      <a:pPr algn="ctr">
                        <a:lnSpc>
                          <a:spcPct val="115000"/>
                        </a:lnSpc>
                        <a:spcBef>
                          <a:spcPts val="1200"/>
                        </a:spcBef>
                        <a:spcAft>
                          <a:spcPts val="1200"/>
                        </a:spcAft>
                      </a:pPr>
                      <a:r>
                        <a:rPr lang="en-IN" sz="1100" dirty="0">
                          <a:effectLst/>
                        </a:rPr>
                        <a:t>4</a:t>
                      </a:r>
                      <a:endParaRPr lang="en-IN" sz="1100" dirty="0">
                        <a:effectLst/>
                        <a:latin typeface="Arial" panose="020B0604020202020204" pitchFamily="34" charset="0"/>
                        <a:ea typeface="Arial" panose="020B0604020202020204" pitchFamily="34" charset="0"/>
                      </a:endParaRPr>
                    </a:p>
                  </a:txBody>
                  <a:tcPr marL="63500" marR="63500" marT="0" marB="0"/>
                </a:tc>
                <a:extLst>
                  <a:ext uri="{0D108BD9-81ED-4DB2-BD59-A6C34878D82A}">
                    <a16:rowId xmlns:a16="http://schemas.microsoft.com/office/drawing/2014/main" val="3907654244"/>
                  </a:ext>
                </a:extLst>
              </a:tr>
            </a:tbl>
          </a:graphicData>
        </a:graphic>
      </p:graphicFrame>
      <p:sp>
        <p:nvSpPr>
          <p:cNvPr id="17" name="TextBox 16">
            <a:extLst>
              <a:ext uri="{FF2B5EF4-FFF2-40B4-BE49-F238E27FC236}">
                <a16:creationId xmlns:a16="http://schemas.microsoft.com/office/drawing/2014/main" id="{712EE4EF-6C80-48A2-BEA5-E7D2EAAC9CF2}"/>
              </a:ext>
            </a:extLst>
          </p:cNvPr>
          <p:cNvSpPr txBox="1"/>
          <p:nvPr/>
        </p:nvSpPr>
        <p:spPr>
          <a:xfrm>
            <a:off x="529219" y="2806539"/>
            <a:ext cx="6588018" cy="270459"/>
          </a:xfrm>
          <a:prstGeom prst="rect">
            <a:avLst/>
          </a:prstGeom>
          <a:noFill/>
        </p:spPr>
        <p:txBody>
          <a:bodyPr wrap="square">
            <a:spAutoFit/>
          </a:bodyPr>
          <a:lstStyle/>
          <a:p>
            <a:pPr indent="-57150">
              <a:lnSpc>
                <a:spcPct val="115000"/>
              </a:lnSpc>
              <a:spcBef>
                <a:spcPts val="1200"/>
              </a:spcBef>
              <a:spcAft>
                <a:spcPts val="1200"/>
              </a:spcAft>
            </a:pPr>
            <a:r>
              <a:rPr lang="en-IN" sz="1100" b="1" dirty="0">
                <a:effectLst/>
                <a:latin typeface="Cambria" panose="02040503050406030204" pitchFamily="18" charset="0"/>
                <a:ea typeface="Arial" panose="020B0604020202020204" pitchFamily="34" charset="0"/>
                <a:cs typeface="Calibri" panose="020F0502020204030204" pitchFamily="34" charset="0"/>
              </a:rPr>
              <a:t>Table 1: </a:t>
            </a:r>
            <a:r>
              <a:rPr lang="en-IN" sz="1100" dirty="0">
                <a:effectLst/>
                <a:latin typeface="Cambria" panose="02040503050406030204" pitchFamily="18" charset="0"/>
                <a:ea typeface="Arial" panose="020B0604020202020204" pitchFamily="34" charset="0"/>
                <a:cs typeface="Calibri" panose="020F0502020204030204" pitchFamily="34" charset="0"/>
              </a:rPr>
              <a:t>Summary of transcriptomic datasets, including platform, tissue source, and sample distribution.</a:t>
            </a:r>
            <a:endParaRPr lang="en-IN" sz="1100" dirty="0">
              <a:effectLst/>
              <a:latin typeface="Arial" panose="020B0604020202020204" pitchFamily="34" charset="0"/>
              <a:ea typeface="Arial" panose="020B0604020202020204" pitchFamily="34" charset="0"/>
            </a:endParaRPr>
          </a:p>
        </p:txBody>
      </p:sp>
      <p:sp>
        <p:nvSpPr>
          <p:cNvPr id="18" name="TextBox 17">
            <a:extLst>
              <a:ext uri="{FF2B5EF4-FFF2-40B4-BE49-F238E27FC236}">
                <a16:creationId xmlns:a16="http://schemas.microsoft.com/office/drawing/2014/main" id="{4E33D0D0-41B1-42D8-8256-A211F5368416}"/>
              </a:ext>
            </a:extLst>
          </p:cNvPr>
          <p:cNvSpPr txBox="1"/>
          <p:nvPr/>
        </p:nvSpPr>
        <p:spPr>
          <a:xfrm>
            <a:off x="673206" y="6356742"/>
            <a:ext cx="6139172" cy="465127"/>
          </a:xfrm>
          <a:prstGeom prst="rect">
            <a:avLst/>
          </a:prstGeom>
          <a:noFill/>
        </p:spPr>
        <p:txBody>
          <a:bodyPr wrap="square">
            <a:spAutoFit/>
          </a:bodyPr>
          <a:lstStyle/>
          <a:p>
            <a:pPr algn="ctr">
              <a:lnSpc>
                <a:spcPct val="115000"/>
              </a:lnSpc>
              <a:spcBef>
                <a:spcPts val="1200"/>
              </a:spcBef>
              <a:spcAft>
                <a:spcPts val="1200"/>
              </a:spcAft>
            </a:pPr>
            <a:r>
              <a:rPr lang="en-IN" sz="1100" b="1" dirty="0">
                <a:effectLst/>
                <a:latin typeface="Cambria" panose="02040503050406030204" pitchFamily="18" charset="0"/>
                <a:ea typeface="Arial" panose="020B0604020202020204" pitchFamily="34" charset="0"/>
                <a:cs typeface="Calibri" panose="020F0502020204030204" pitchFamily="34" charset="0"/>
              </a:rPr>
              <a:t>Figure 1</a:t>
            </a:r>
            <a:r>
              <a:rPr lang="en-IN" sz="1100" dirty="0">
                <a:effectLst/>
                <a:latin typeface="Cambria" panose="02040503050406030204" pitchFamily="18" charset="0"/>
                <a:ea typeface="Arial" panose="020B0604020202020204" pitchFamily="34" charset="0"/>
                <a:cs typeface="Calibri" panose="020F0502020204030204" pitchFamily="34" charset="0"/>
              </a:rPr>
              <a:t>. Overview of datasets used in the study. </a:t>
            </a:r>
            <a:r>
              <a:rPr lang="en-IN" sz="1100" dirty="0" err="1">
                <a:effectLst/>
                <a:latin typeface="Cambria" panose="02040503050406030204" pitchFamily="18" charset="0"/>
                <a:ea typeface="Arial" panose="020B0604020202020204" pitchFamily="34" charset="0"/>
                <a:cs typeface="Calibri" panose="020F0502020204030204" pitchFamily="34" charset="0"/>
              </a:rPr>
              <a:t>Barplot</a:t>
            </a:r>
            <a:r>
              <a:rPr lang="en-IN" sz="1100" dirty="0">
                <a:effectLst/>
                <a:latin typeface="Cambria" panose="02040503050406030204" pitchFamily="18" charset="0"/>
                <a:ea typeface="Arial" panose="020B0604020202020204" pitchFamily="34" charset="0"/>
                <a:cs typeface="Calibri" panose="020F0502020204030204" pitchFamily="34" charset="0"/>
              </a:rPr>
              <a:t> showing total samples per dataset, highlighting the relative dataset sizes.</a:t>
            </a:r>
            <a:endParaRPr lang="en-IN" sz="1100" dirty="0">
              <a:effectLst/>
              <a:latin typeface="Arial" panose="020B0604020202020204" pitchFamily="34" charset="0"/>
              <a:ea typeface="Arial" panose="020B0604020202020204" pitchFamily="34" charset="0"/>
            </a:endParaRPr>
          </a:p>
        </p:txBody>
      </p:sp>
      <p:pic>
        <p:nvPicPr>
          <p:cNvPr id="19" name="Picture 18">
            <a:extLst>
              <a:ext uri="{FF2B5EF4-FFF2-40B4-BE49-F238E27FC236}">
                <a16:creationId xmlns:a16="http://schemas.microsoft.com/office/drawing/2014/main" id="{334966E4-D24F-4F6E-ACBD-35C45263C01D}"/>
              </a:ext>
            </a:extLst>
          </p:cNvPr>
          <p:cNvPicPr>
            <a:picLocks noChangeAspect="1"/>
          </p:cNvPicPr>
          <p:nvPr/>
        </p:nvPicPr>
        <p:blipFill>
          <a:blip r:embed="rId3"/>
          <a:stretch>
            <a:fillRect/>
          </a:stretch>
        </p:blipFill>
        <p:spPr>
          <a:xfrm>
            <a:off x="1518570" y="3271225"/>
            <a:ext cx="4052910" cy="3123854"/>
          </a:xfrm>
          <a:prstGeom prst="rect">
            <a:avLst/>
          </a:prstGeom>
        </p:spPr>
      </p:pic>
      <p:sp>
        <p:nvSpPr>
          <p:cNvPr id="20" name="TextBox 19">
            <a:extLst>
              <a:ext uri="{FF2B5EF4-FFF2-40B4-BE49-F238E27FC236}">
                <a16:creationId xmlns:a16="http://schemas.microsoft.com/office/drawing/2014/main" id="{631A6847-D9AD-4CB6-95E4-E9072D457F3C}"/>
              </a:ext>
            </a:extLst>
          </p:cNvPr>
          <p:cNvSpPr txBox="1"/>
          <p:nvPr/>
        </p:nvSpPr>
        <p:spPr>
          <a:xfrm>
            <a:off x="560642" y="1106193"/>
            <a:ext cx="6869384" cy="338554"/>
          </a:xfrm>
          <a:prstGeom prst="rect">
            <a:avLst/>
          </a:prstGeom>
          <a:noFill/>
        </p:spPr>
        <p:txBody>
          <a:bodyPr wrap="square">
            <a:spAutoFit/>
          </a:bodyPr>
          <a:lstStyle/>
          <a:p>
            <a:r>
              <a:rPr lang="en-US" sz="1600" dirty="0"/>
              <a:t>Overview of transcriptomic datasets selected for PCOS analysis.</a:t>
            </a:r>
            <a:endParaRPr lang="en-IN" sz="1600" dirty="0"/>
          </a:p>
        </p:txBody>
      </p:sp>
      <p:sp>
        <p:nvSpPr>
          <p:cNvPr id="21" name="Rectangle 1">
            <a:extLst>
              <a:ext uri="{FF2B5EF4-FFF2-40B4-BE49-F238E27FC236}">
                <a16:creationId xmlns:a16="http://schemas.microsoft.com/office/drawing/2014/main" id="{35A2D053-52B2-4D18-9612-DF018609E36F}"/>
              </a:ext>
            </a:extLst>
          </p:cNvPr>
          <p:cNvSpPr>
            <a:spLocks noChangeArrowheads="1"/>
          </p:cNvSpPr>
          <p:nvPr/>
        </p:nvSpPr>
        <p:spPr bwMode="auto">
          <a:xfrm>
            <a:off x="6878806" y="1940038"/>
            <a:ext cx="3292716"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100" b="1" i="0" u="none" strike="noStrike" cap="none" normalizeH="0" baseline="0" dirty="0">
                <a:ln>
                  <a:noFill/>
                </a:ln>
                <a:solidFill>
                  <a:schemeClr val="tx1"/>
                </a:solidFill>
                <a:effectLst/>
              </a:rPr>
              <a:t>Microarray:</a:t>
            </a:r>
            <a:r>
              <a:rPr kumimoji="0" lang="en-US" altLang="en-US" sz="1100" b="0" i="0" u="none" strike="noStrike" cap="none" normalizeH="0" baseline="0" dirty="0">
                <a:ln>
                  <a:noFill/>
                </a:ln>
                <a:solidFill>
                  <a:schemeClr val="tx1"/>
                </a:solidFill>
                <a:effectLst/>
              </a:rPr>
              <a:t> GSE114419, GSE137684, GSE98421</a:t>
            </a:r>
          </a:p>
          <a:p>
            <a:pPr marL="0" marR="0" lvl="0" indent="0" algn="l" defTabSz="914400" rtl="0" eaLnBrk="0" fontAlgn="base" latinLnBrk="0" hangingPunct="0">
              <a:lnSpc>
                <a:spcPct val="100000"/>
              </a:lnSpc>
              <a:spcBef>
                <a:spcPct val="0"/>
              </a:spcBef>
              <a:spcAft>
                <a:spcPct val="0"/>
              </a:spcAft>
              <a:buClrTx/>
              <a:buSzTx/>
              <a:tabLst/>
            </a:pPr>
            <a:r>
              <a:rPr kumimoji="0" lang="en-US" altLang="en-US" sz="1100" b="1" i="0" u="none" strike="noStrike" cap="none" normalizeH="0" baseline="0" dirty="0">
                <a:ln>
                  <a:noFill/>
                </a:ln>
                <a:solidFill>
                  <a:schemeClr val="tx1"/>
                </a:solidFill>
                <a:effectLst/>
              </a:rPr>
              <a:t>RNA-seq:</a:t>
            </a:r>
            <a:r>
              <a:rPr kumimoji="0" lang="en-US" altLang="en-US" sz="1100" b="0" i="0" u="none" strike="noStrike" cap="none" normalizeH="0" baseline="0" dirty="0">
                <a:ln>
                  <a:noFill/>
                </a:ln>
                <a:solidFill>
                  <a:schemeClr val="tx1"/>
                </a:solidFill>
                <a:effectLst/>
              </a:rPr>
              <a:t> GSE277906</a:t>
            </a:r>
          </a:p>
        </p:txBody>
      </p:sp>
      <p:sp>
        <p:nvSpPr>
          <p:cNvPr id="22" name="TextBox 21">
            <a:extLst>
              <a:ext uri="{FF2B5EF4-FFF2-40B4-BE49-F238E27FC236}">
                <a16:creationId xmlns:a16="http://schemas.microsoft.com/office/drawing/2014/main" id="{4856C606-2972-4896-BCB4-38C37F933E7A}"/>
              </a:ext>
            </a:extLst>
          </p:cNvPr>
          <p:cNvSpPr txBox="1"/>
          <p:nvPr/>
        </p:nvSpPr>
        <p:spPr>
          <a:xfrm>
            <a:off x="6416844" y="4135360"/>
            <a:ext cx="3511484" cy="1015663"/>
          </a:xfrm>
          <a:prstGeom prst="rect">
            <a:avLst/>
          </a:prstGeom>
          <a:noFill/>
        </p:spPr>
        <p:txBody>
          <a:bodyPr wrap="square">
            <a:spAutoFit/>
          </a:bodyPr>
          <a:lstStyle/>
          <a:p>
            <a:r>
              <a:rPr lang="en-IN" sz="1200" b="1" dirty="0"/>
              <a:t>Note:</a:t>
            </a:r>
            <a:endParaRPr lang="en-IN" sz="1200" dirty="0"/>
          </a:p>
          <a:p>
            <a:pPr marL="171450" indent="-171450">
              <a:buFont typeface="Arial" panose="020B0604020202020204" pitchFamily="34" charset="0"/>
              <a:buChar char="•"/>
            </a:pPr>
            <a:r>
              <a:rPr lang="en-IN" sz="1200" dirty="0"/>
              <a:t>Used for DEG analysis: GSE98421 (microarray), GSE277906 (RNA-</a:t>
            </a:r>
            <a:r>
              <a:rPr lang="en-IN" sz="1200" dirty="0" err="1"/>
              <a:t>seq</a:t>
            </a:r>
            <a:r>
              <a:rPr lang="en-IN" sz="1200" dirty="0"/>
              <a:t>)</a:t>
            </a:r>
          </a:p>
          <a:p>
            <a:pPr marL="171450" indent="-171450">
              <a:buFont typeface="Arial" panose="020B0604020202020204" pitchFamily="34" charset="0"/>
              <a:buChar char="•"/>
            </a:pPr>
            <a:r>
              <a:rPr lang="en-IN" sz="1200" dirty="0"/>
              <a:t>Excluded later: GSE114419 (no PCOS samples), GSE137684 (missing disease labels)</a:t>
            </a:r>
          </a:p>
        </p:txBody>
      </p:sp>
      <p:sp>
        <p:nvSpPr>
          <p:cNvPr id="23" name="Slide Number Placeholder 22">
            <a:extLst>
              <a:ext uri="{FF2B5EF4-FFF2-40B4-BE49-F238E27FC236}">
                <a16:creationId xmlns:a16="http://schemas.microsoft.com/office/drawing/2014/main" id="{77B69C1F-5AC2-4EDB-A935-A333878535CD}"/>
              </a:ext>
            </a:extLst>
          </p:cNvPr>
          <p:cNvSpPr>
            <a:spLocks noGrp="1"/>
          </p:cNvSpPr>
          <p:nvPr>
            <p:ph type="sldNum" sz="quarter" idx="10"/>
          </p:nvPr>
        </p:nvSpPr>
        <p:spPr/>
        <p:txBody>
          <a:bodyPr/>
          <a:lstStyle/>
          <a:p>
            <a:fld id="{48F63A3B-78C7-47BE-AE5E-E10140E04643}" type="slidenum">
              <a:rPr lang="en-US" smtClean="0"/>
              <a:pPr/>
              <a:t>5</a:t>
            </a:fld>
            <a:endParaRPr lang="en-US" dirty="0"/>
          </a:p>
        </p:txBody>
      </p:sp>
    </p:spTree>
    <p:extLst>
      <p:ext uri="{BB962C8B-B14F-4D97-AF65-F5344CB8AC3E}">
        <p14:creationId xmlns:p14="http://schemas.microsoft.com/office/powerpoint/2010/main" val="1941619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DB2E1BB2-D780-49B3-BC26-8DCA20CEFF1A}"/>
              </a:ext>
            </a:extLst>
          </p:cNvPr>
          <p:cNvSpPr>
            <a:spLocks noGrp="1"/>
          </p:cNvSpPr>
          <p:nvPr>
            <p:ph type="title"/>
          </p:nvPr>
        </p:nvSpPr>
        <p:spPr>
          <a:xfrm>
            <a:off x="265520" y="290475"/>
            <a:ext cx="7965461" cy="524296"/>
          </a:xfrm>
        </p:spPr>
        <p:txBody>
          <a:bodyPr/>
          <a:lstStyle/>
          <a:p>
            <a:r>
              <a:rPr lang="en-IN" sz="3200" b="1" kern="1800" dirty="0">
                <a:effectLst/>
                <a:latin typeface="Times New Roman" panose="02020603050405020304" pitchFamily="18" charset="0"/>
                <a:ea typeface="Times New Roman" panose="02020603050405020304" pitchFamily="18" charset="0"/>
                <a:cs typeface="Times New Roman" panose="02020603050405020304" pitchFamily="18" charset="0"/>
              </a:rPr>
              <a:t>2. (a) Microarray QC (GSE98421)</a:t>
            </a:r>
            <a:endParaRPr lang="en-IN" sz="5400" dirty="0">
              <a:latin typeface="+mn-lt"/>
            </a:endParaRPr>
          </a:p>
        </p:txBody>
      </p:sp>
      <p:pic>
        <p:nvPicPr>
          <p:cNvPr id="20" name="Picture 19">
            <a:extLst>
              <a:ext uri="{FF2B5EF4-FFF2-40B4-BE49-F238E27FC236}">
                <a16:creationId xmlns:a16="http://schemas.microsoft.com/office/drawing/2014/main" id="{4673D712-2DD5-4B54-B5CD-2B350C2E1F0F}"/>
              </a:ext>
            </a:extLst>
          </p:cNvPr>
          <p:cNvPicPr>
            <a:picLocks noChangeAspect="1"/>
          </p:cNvPicPr>
          <p:nvPr/>
        </p:nvPicPr>
        <p:blipFill>
          <a:blip r:embed="rId3"/>
          <a:stretch>
            <a:fillRect/>
          </a:stretch>
        </p:blipFill>
        <p:spPr>
          <a:xfrm>
            <a:off x="7878514" y="1232361"/>
            <a:ext cx="3942698" cy="2957024"/>
          </a:xfrm>
          <a:prstGeom prst="rect">
            <a:avLst/>
          </a:prstGeom>
        </p:spPr>
      </p:pic>
      <p:pic>
        <p:nvPicPr>
          <p:cNvPr id="22" name="Picture 21">
            <a:extLst>
              <a:ext uri="{FF2B5EF4-FFF2-40B4-BE49-F238E27FC236}">
                <a16:creationId xmlns:a16="http://schemas.microsoft.com/office/drawing/2014/main" id="{8613214E-DA37-4F1B-9760-B7093C05F0F2}"/>
              </a:ext>
            </a:extLst>
          </p:cNvPr>
          <p:cNvPicPr>
            <a:picLocks noChangeAspect="1"/>
          </p:cNvPicPr>
          <p:nvPr/>
        </p:nvPicPr>
        <p:blipFill>
          <a:blip r:embed="rId4"/>
          <a:stretch>
            <a:fillRect/>
          </a:stretch>
        </p:blipFill>
        <p:spPr>
          <a:xfrm>
            <a:off x="4085925" y="1232361"/>
            <a:ext cx="3713055" cy="2784791"/>
          </a:xfrm>
          <a:prstGeom prst="rect">
            <a:avLst/>
          </a:prstGeom>
        </p:spPr>
      </p:pic>
      <p:pic>
        <p:nvPicPr>
          <p:cNvPr id="25" name="Picture 24">
            <a:extLst>
              <a:ext uri="{FF2B5EF4-FFF2-40B4-BE49-F238E27FC236}">
                <a16:creationId xmlns:a16="http://schemas.microsoft.com/office/drawing/2014/main" id="{86F1AF0F-E5BE-46FC-9D69-D5504C0D19E0}"/>
              </a:ext>
            </a:extLst>
          </p:cNvPr>
          <p:cNvPicPr>
            <a:picLocks noChangeAspect="1"/>
          </p:cNvPicPr>
          <p:nvPr/>
        </p:nvPicPr>
        <p:blipFill>
          <a:blip r:embed="rId5"/>
          <a:stretch>
            <a:fillRect/>
          </a:stretch>
        </p:blipFill>
        <p:spPr>
          <a:xfrm>
            <a:off x="83368" y="1247118"/>
            <a:ext cx="3923023" cy="2942267"/>
          </a:xfrm>
          <a:prstGeom prst="rect">
            <a:avLst/>
          </a:prstGeom>
        </p:spPr>
      </p:pic>
      <p:sp>
        <p:nvSpPr>
          <p:cNvPr id="27" name="TextBox 26">
            <a:extLst>
              <a:ext uri="{FF2B5EF4-FFF2-40B4-BE49-F238E27FC236}">
                <a16:creationId xmlns:a16="http://schemas.microsoft.com/office/drawing/2014/main" id="{D83D68B5-8392-4120-9EF5-75A62F6E03D6}"/>
              </a:ext>
            </a:extLst>
          </p:cNvPr>
          <p:cNvSpPr txBox="1"/>
          <p:nvPr/>
        </p:nvSpPr>
        <p:spPr>
          <a:xfrm>
            <a:off x="8869051" y="4260072"/>
            <a:ext cx="3322949" cy="276999"/>
          </a:xfrm>
          <a:prstGeom prst="rect">
            <a:avLst/>
          </a:prstGeom>
          <a:noFill/>
        </p:spPr>
        <p:txBody>
          <a:bodyPr wrap="square">
            <a:spAutoFit/>
          </a:bodyPr>
          <a:lstStyle/>
          <a:p>
            <a:r>
              <a:rPr lang="en-IN" sz="1200" b="1" dirty="0"/>
              <a:t>Boxplot (Post-normalization)</a:t>
            </a:r>
          </a:p>
        </p:txBody>
      </p:sp>
      <p:sp>
        <p:nvSpPr>
          <p:cNvPr id="29" name="TextBox 28">
            <a:extLst>
              <a:ext uri="{FF2B5EF4-FFF2-40B4-BE49-F238E27FC236}">
                <a16:creationId xmlns:a16="http://schemas.microsoft.com/office/drawing/2014/main" id="{D5717230-234A-40AE-B50E-A45E2F9CBFB7}"/>
              </a:ext>
            </a:extLst>
          </p:cNvPr>
          <p:cNvSpPr txBox="1"/>
          <p:nvPr/>
        </p:nvSpPr>
        <p:spPr>
          <a:xfrm>
            <a:off x="4623061" y="4189385"/>
            <a:ext cx="2945877" cy="276999"/>
          </a:xfrm>
          <a:prstGeom prst="rect">
            <a:avLst/>
          </a:prstGeom>
          <a:noFill/>
        </p:spPr>
        <p:txBody>
          <a:bodyPr wrap="square">
            <a:spAutoFit/>
          </a:bodyPr>
          <a:lstStyle/>
          <a:p>
            <a:r>
              <a:rPr lang="en-IN" sz="1200" b="1"/>
              <a:t>Density Plot (Expression distribution)</a:t>
            </a:r>
            <a:endParaRPr lang="en-IN" sz="1200" b="1" dirty="0"/>
          </a:p>
        </p:txBody>
      </p:sp>
      <p:sp>
        <p:nvSpPr>
          <p:cNvPr id="31" name="TextBox 30">
            <a:extLst>
              <a:ext uri="{FF2B5EF4-FFF2-40B4-BE49-F238E27FC236}">
                <a16:creationId xmlns:a16="http://schemas.microsoft.com/office/drawing/2014/main" id="{AA8DF67D-D61A-4FC5-B926-DDA5FD30FEAC}"/>
              </a:ext>
            </a:extLst>
          </p:cNvPr>
          <p:cNvSpPr txBox="1"/>
          <p:nvPr/>
        </p:nvSpPr>
        <p:spPr>
          <a:xfrm>
            <a:off x="578559" y="4189385"/>
            <a:ext cx="3464351" cy="276999"/>
          </a:xfrm>
          <a:prstGeom prst="rect">
            <a:avLst/>
          </a:prstGeom>
          <a:noFill/>
        </p:spPr>
        <p:txBody>
          <a:bodyPr wrap="square">
            <a:spAutoFit/>
          </a:bodyPr>
          <a:lstStyle/>
          <a:p>
            <a:pPr algn="ctr"/>
            <a:r>
              <a:rPr lang="en-IN" sz="1200" b="1" dirty="0"/>
              <a:t>PCA Plot (Sample clustering)</a:t>
            </a:r>
            <a:endParaRPr lang="en-IN" sz="1200" dirty="0"/>
          </a:p>
        </p:txBody>
      </p:sp>
      <p:sp>
        <p:nvSpPr>
          <p:cNvPr id="33" name="TextBox 32">
            <a:extLst>
              <a:ext uri="{FF2B5EF4-FFF2-40B4-BE49-F238E27FC236}">
                <a16:creationId xmlns:a16="http://schemas.microsoft.com/office/drawing/2014/main" id="{44BB8578-DA5E-4B93-BCCC-0CE2D51B2428}"/>
              </a:ext>
            </a:extLst>
          </p:cNvPr>
          <p:cNvSpPr txBox="1"/>
          <p:nvPr/>
        </p:nvSpPr>
        <p:spPr>
          <a:xfrm>
            <a:off x="265520" y="4964551"/>
            <a:ext cx="11555692" cy="584775"/>
          </a:xfrm>
          <a:prstGeom prst="rect">
            <a:avLst/>
          </a:prstGeom>
          <a:noFill/>
        </p:spPr>
        <p:txBody>
          <a:bodyPr wrap="square">
            <a:spAutoFit/>
          </a:bodyPr>
          <a:lstStyle/>
          <a:p>
            <a:r>
              <a:rPr lang="en-IN" sz="1600" b="1" dirty="0"/>
              <a:t>Key QC Findings: </a:t>
            </a:r>
            <a:r>
              <a:rPr lang="en-US" sz="1600" dirty="0"/>
              <a:t>Uniform medians, overlapping density curves, and PCA without outliers confirm successful normalization and dataset readiness for DEG analysis.</a:t>
            </a:r>
            <a:endParaRPr lang="en-IN" sz="1600" dirty="0"/>
          </a:p>
        </p:txBody>
      </p:sp>
      <p:sp>
        <p:nvSpPr>
          <p:cNvPr id="36" name="Slide Number Placeholder 35">
            <a:extLst>
              <a:ext uri="{FF2B5EF4-FFF2-40B4-BE49-F238E27FC236}">
                <a16:creationId xmlns:a16="http://schemas.microsoft.com/office/drawing/2014/main" id="{E0D09F3C-7C82-4B18-B22E-A7D437FB3AA4}"/>
              </a:ext>
            </a:extLst>
          </p:cNvPr>
          <p:cNvSpPr>
            <a:spLocks noGrp="1"/>
          </p:cNvSpPr>
          <p:nvPr>
            <p:ph type="sldNum" sz="quarter" idx="10"/>
          </p:nvPr>
        </p:nvSpPr>
        <p:spPr/>
        <p:txBody>
          <a:bodyPr/>
          <a:lstStyle/>
          <a:p>
            <a:fld id="{48F63A3B-78C7-47BE-AE5E-E10140E04643}" type="slidenum">
              <a:rPr lang="en-US" smtClean="0"/>
              <a:pPr/>
              <a:t>6</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DB2E1BB2-D780-49B3-BC26-8DCA20CEFF1A}"/>
              </a:ext>
            </a:extLst>
          </p:cNvPr>
          <p:cNvSpPr>
            <a:spLocks noGrp="1"/>
          </p:cNvSpPr>
          <p:nvPr>
            <p:ph type="title"/>
          </p:nvPr>
        </p:nvSpPr>
        <p:spPr>
          <a:xfrm>
            <a:off x="265520" y="348551"/>
            <a:ext cx="7965461" cy="524296"/>
          </a:xfrm>
        </p:spPr>
        <p:txBody>
          <a:bodyPr/>
          <a:lstStyle/>
          <a:p>
            <a:r>
              <a:rPr lang="en-IN" sz="3200" b="1" kern="1800" dirty="0">
                <a:effectLst/>
                <a:latin typeface="Times New Roman" panose="02020603050405020304" pitchFamily="18" charset="0"/>
                <a:ea typeface="Times New Roman" panose="02020603050405020304" pitchFamily="18" charset="0"/>
                <a:cs typeface="Times New Roman" panose="02020603050405020304" pitchFamily="18" charset="0"/>
              </a:rPr>
              <a:t>2. (b) Microarray QC (GSE114419)</a:t>
            </a:r>
            <a:endParaRPr lang="en-IN" sz="5400" dirty="0">
              <a:latin typeface="+mn-lt"/>
            </a:endParaRPr>
          </a:p>
        </p:txBody>
      </p:sp>
      <p:sp>
        <p:nvSpPr>
          <p:cNvPr id="27" name="TextBox 26">
            <a:extLst>
              <a:ext uri="{FF2B5EF4-FFF2-40B4-BE49-F238E27FC236}">
                <a16:creationId xmlns:a16="http://schemas.microsoft.com/office/drawing/2014/main" id="{D83D68B5-8392-4120-9EF5-75A62F6E03D6}"/>
              </a:ext>
            </a:extLst>
          </p:cNvPr>
          <p:cNvSpPr txBox="1"/>
          <p:nvPr/>
        </p:nvSpPr>
        <p:spPr>
          <a:xfrm>
            <a:off x="8869051" y="4260072"/>
            <a:ext cx="3322949" cy="276999"/>
          </a:xfrm>
          <a:prstGeom prst="rect">
            <a:avLst/>
          </a:prstGeom>
          <a:noFill/>
        </p:spPr>
        <p:txBody>
          <a:bodyPr wrap="square">
            <a:spAutoFit/>
          </a:bodyPr>
          <a:lstStyle/>
          <a:p>
            <a:r>
              <a:rPr lang="en-IN" sz="1200" b="1" dirty="0"/>
              <a:t>Boxplot (Post-normalization)</a:t>
            </a:r>
          </a:p>
        </p:txBody>
      </p:sp>
      <p:sp>
        <p:nvSpPr>
          <p:cNvPr id="29" name="TextBox 28">
            <a:extLst>
              <a:ext uri="{FF2B5EF4-FFF2-40B4-BE49-F238E27FC236}">
                <a16:creationId xmlns:a16="http://schemas.microsoft.com/office/drawing/2014/main" id="{D5717230-234A-40AE-B50E-A45E2F9CBFB7}"/>
              </a:ext>
            </a:extLst>
          </p:cNvPr>
          <p:cNvSpPr txBox="1"/>
          <p:nvPr/>
        </p:nvSpPr>
        <p:spPr>
          <a:xfrm>
            <a:off x="4623061" y="4189385"/>
            <a:ext cx="2945877" cy="276999"/>
          </a:xfrm>
          <a:prstGeom prst="rect">
            <a:avLst/>
          </a:prstGeom>
          <a:noFill/>
        </p:spPr>
        <p:txBody>
          <a:bodyPr wrap="square">
            <a:spAutoFit/>
          </a:bodyPr>
          <a:lstStyle/>
          <a:p>
            <a:r>
              <a:rPr lang="en-IN" sz="1200" b="1"/>
              <a:t>Density Plot (Expression distribution)</a:t>
            </a:r>
            <a:endParaRPr lang="en-IN" sz="1200" b="1" dirty="0"/>
          </a:p>
        </p:txBody>
      </p:sp>
      <p:sp>
        <p:nvSpPr>
          <p:cNvPr id="31" name="TextBox 30">
            <a:extLst>
              <a:ext uri="{FF2B5EF4-FFF2-40B4-BE49-F238E27FC236}">
                <a16:creationId xmlns:a16="http://schemas.microsoft.com/office/drawing/2014/main" id="{AA8DF67D-D61A-4FC5-B926-DDA5FD30FEAC}"/>
              </a:ext>
            </a:extLst>
          </p:cNvPr>
          <p:cNvSpPr txBox="1"/>
          <p:nvPr/>
        </p:nvSpPr>
        <p:spPr>
          <a:xfrm>
            <a:off x="578559" y="4189385"/>
            <a:ext cx="3464351" cy="276999"/>
          </a:xfrm>
          <a:prstGeom prst="rect">
            <a:avLst/>
          </a:prstGeom>
          <a:noFill/>
        </p:spPr>
        <p:txBody>
          <a:bodyPr wrap="square">
            <a:spAutoFit/>
          </a:bodyPr>
          <a:lstStyle/>
          <a:p>
            <a:pPr algn="ctr"/>
            <a:r>
              <a:rPr lang="en-IN" sz="1200" b="1" dirty="0"/>
              <a:t>PCA Plot (Sample clustering)</a:t>
            </a:r>
            <a:endParaRPr lang="en-IN" sz="1200" dirty="0"/>
          </a:p>
        </p:txBody>
      </p:sp>
      <p:sp>
        <p:nvSpPr>
          <p:cNvPr id="33" name="TextBox 32">
            <a:extLst>
              <a:ext uri="{FF2B5EF4-FFF2-40B4-BE49-F238E27FC236}">
                <a16:creationId xmlns:a16="http://schemas.microsoft.com/office/drawing/2014/main" id="{44BB8578-DA5E-4B93-BCCC-0CE2D51B2428}"/>
              </a:ext>
            </a:extLst>
          </p:cNvPr>
          <p:cNvSpPr txBox="1"/>
          <p:nvPr/>
        </p:nvSpPr>
        <p:spPr>
          <a:xfrm>
            <a:off x="265520" y="4964551"/>
            <a:ext cx="11555692" cy="584775"/>
          </a:xfrm>
          <a:prstGeom prst="rect">
            <a:avLst/>
          </a:prstGeom>
          <a:noFill/>
        </p:spPr>
        <p:txBody>
          <a:bodyPr wrap="square">
            <a:spAutoFit/>
          </a:bodyPr>
          <a:lstStyle/>
          <a:p>
            <a:r>
              <a:rPr lang="en-IN" sz="1600" b="1" dirty="0"/>
              <a:t>Key QC Findings: </a:t>
            </a:r>
            <a:r>
              <a:rPr lang="en-US" sz="1600" dirty="0"/>
              <a:t>Uniform signal distribution, overlapping density curves, and tightly grouped PCA samples confirm clean microarray data suitable for downstream visualization, but dataset lacks PCOS cases for DEG analysis.</a:t>
            </a:r>
            <a:endParaRPr lang="en-IN" sz="1600" dirty="0"/>
          </a:p>
        </p:txBody>
      </p:sp>
      <p:pic>
        <p:nvPicPr>
          <p:cNvPr id="3" name="Picture 2">
            <a:extLst>
              <a:ext uri="{FF2B5EF4-FFF2-40B4-BE49-F238E27FC236}">
                <a16:creationId xmlns:a16="http://schemas.microsoft.com/office/drawing/2014/main" id="{061387A9-1312-4E6C-B643-43D0FD31B1D9}"/>
              </a:ext>
            </a:extLst>
          </p:cNvPr>
          <p:cNvPicPr>
            <a:picLocks noChangeAspect="1"/>
          </p:cNvPicPr>
          <p:nvPr/>
        </p:nvPicPr>
        <p:blipFill>
          <a:blip r:embed="rId3"/>
          <a:stretch>
            <a:fillRect/>
          </a:stretch>
        </p:blipFill>
        <p:spPr>
          <a:xfrm>
            <a:off x="8028495" y="1384078"/>
            <a:ext cx="3715451" cy="2786588"/>
          </a:xfrm>
          <a:prstGeom prst="rect">
            <a:avLst/>
          </a:prstGeom>
        </p:spPr>
      </p:pic>
      <p:pic>
        <p:nvPicPr>
          <p:cNvPr id="5" name="Picture 4">
            <a:extLst>
              <a:ext uri="{FF2B5EF4-FFF2-40B4-BE49-F238E27FC236}">
                <a16:creationId xmlns:a16="http://schemas.microsoft.com/office/drawing/2014/main" id="{9EFEB625-6133-4071-B5C7-F63D7A87269F}"/>
              </a:ext>
            </a:extLst>
          </p:cNvPr>
          <p:cNvPicPr>
            <a:picLocks noChangeAspect="1"/>
          </p:cNvPicPr>
          <p:nvPr/>
        </p:nvPicPr>
        <p:blipFill>
          <a:blip r:embed="rId4"/>
          <a:stretch>
            <a:fillRect/>
          </a:stretch>
        </p:blipFill>
        <p:spPr>
          <a:xfrm>
            <a:off x="4163506" y="1384078"/>
            <a:ext cx="3700948" cy="2775711"/>
          </a:xfrm>
          <a:prstGeom prst="rect">
            <a:avLst/>
          </a:prstGeom>
        </p:spPr>
      </p:pic>
      <p:pic>
        <p:nvPicPr>
          <p:cNvPr id="7" name="Picture 6">
            <a:extLst>
              <a:ext uri="{FF2B5EF4-FFF2-40B4-BE49-F238E27FC236}">
                <a16:creationId xmlns:a16="http://schemas.microsoft.com/office/drawing/2014/main" id="{BE9C4B83-0DD5-45F7-BEF1-C5CEF03C91CD}"/>
              </a:ext>
            </a:extLst>
          </p:cNvPr>
          <p:cNvPicPr>
            <a:picLocks noChangeAspect="1"/>
          </p:cNvPicPr>
          <p:nvPr/>
        </p:nvPicPr>
        <p:blipFill>
          <a:blip r:embed="rId5"/>
          <a:stretch>
            <a:fillRect/>
          </a:stretch>
        </p:blipFill>
        <p:spPr>
          <a:xfrm>
            <a:off x="256094" y="1394955"/>
            <a:ext cx="3700948" cy="2775711"/>
          </a:xfrm>
          <a:prstGeom prst="rect">
            <a:avLst/>
          </a:prstGeom>
        </p:spPr>
      </p:pic>
      <p:sp>
        <p:nvSpPr>
          <p:cNvPr id="8" name="Slide Number Placeholder 7">
            <a:extLst>
              <a:ext uri="{FF2B5EF4-FFF2-40B4-BE49-F238E27FC236}">
                <a16:creationId xmlns:a16="http://schemas.microsoft.com/office/drawing/2014/main" id="{880ABF0C-305B-4588-9376-C3231615B7C2}"/>
              </a:ext>
            </a:extLst>
          </p:cNvPr>
          <p:cNvSpPr>
            <a:spLocks noGrp="1"/>
          </p:cNvSpPr>
          <p:nvPr>
            <p:ph type="sldNum" sz="quarter" idx="10"/>
          </p:nvPr>
        </p:nvSpPr>
        <p:spPr/>
        <p:txBody>
          <a:bodyPr/>
          <a:lstStyle/>
          <a:p>
            <a:fld id="{48F63A3B-78C7-47BE-AE5E-E10140E04643}" type="slidenum">
              <a:rPr lang="en-US" smtClean="0"/>
              <a:pPr/>
              <a:t>7</a:t>
            </a:fld>
            <a:endParaRPr lang="en-US" dirty="0"/>
          </a:p>
        </p:txBody>
      </p:sp>
    </p:spTree>
    <p:extLst>
      <p:ext uri="{BB962C8B-B14F-4D97-AF65-F5344CB8AC3E}">
        <p14:creationId xmlns:p14="http://schemas.microsoft.com/office/powerpoint/2010/main" val="2721737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DB2E1BB2-D780-49B3-BC26-8DCA20CEFF1A}"/>
              </a:ext>
            </a:extLst>
          </p:cNvPr>
          <p:cNvSpPr>
            <a:spLocks noGrp="1"/>
          </p:cNvSpPr>
          <p:nvPr>
            <p:ph type="title"/>
          </p:nvPr>
        </p:nvSpPr>
        <p:spPr>
          <a:xfrm>
            <a:off x="265520" y="294081"/>
            <a:ext cx="7965461" cy="524296"/>
          </a:xfrm>
        </p:spPr>
        <p:txBody>
          <a:bodyPr/>
          <a:lstStyle/>
          <a:p>
            <a:r>
              <a:rPr lang="en-IN" sz="3200" b="1" kern="1800" dirty="0">
                <a:effectLst/>
                <a:latin typeface="Times New Roman" panose="02020603050405020304" pitchFamily="18" charset="0"/>
                <a:ea typeface="Times New Roman" panose="02020603050405020304" pitchFamily="18" charset="0"/>
                <a:cs typeface="Times New Roman" panose="02020603050405020304" pitchFamily="18" charset="0"/>
              </a:rPr>
              <a:t>2. (c) Microarray QC (GSE137684)</a:t>
            </a:r>
            <a:endParaRPr lang="en-IN" sz="5400" dirty="0">
              <a:latin typeface="+mn-lt"/>
            </a:endParaRPr>
          </a:p>
        </p:txBody>
      </p:sp>
      <p:pic>
        <p:nvPicPr>
          <p:cNvPr id="20" name="Picture 19">
            <a:extLst>
              <a:ext uri="{FF2B5EF4-FFF2-40B4-BE49-F238E27FC236}">
                <a16:creationId xmlns:a16="http://schemas.microsoft.com/office/drawing/2014/main" id="{4673D712-2DD5-4B54-B5CD-2B350C2E1F0F}"/>
              </a:ext>
            </a:extLst>
          </p:cNvPr>
          <p:cNvPicPr>
            <a:picLocks noChangeAspect="1"/>
          </p:cNvPicPr>
          <p:nvPr/>
        </p:nvPicPr>
        <p:blipFill>
          <a:blip r:embed="rId3"/>
          <a:stretch>
            <a:fillRect/>
          </a:stretch>
        </p:blipFill>
        <p:spPr>
          <a:xfrm>
            <a:off x="7878514" y="1232361"/>
            <a:ext cx="3942698" cy="2957024"/>
          </a:xfrm>
          <a:prstGeom prst="rect">
            <a:avLst/>
          </a:prstGeom>
        </p:spPr>
      </p:pic>
      <p:pic>
        <p:nvPicPr>
          <p:cNvPr id="22" name="Picture 21">
            <a:extLst>
              <a:ext uri="{FF2B5EF4-FFF2-40B4-BE49-F238E27FC236}">
                <a16:creationId xmlns:a16="http://schemas.microsoft.com/office/drawing/2014/main" id="{8613214E-DA37-4F1B-9760-B7093C05F0F2}"/>
              </a:ext>
            </a:extLst>
          </p:cNvPr>
          <p:cNvPicPr>
            <a:picLocks noChangeAspect="1"/>
          </p:cNvPicPr>
          <p:nvPr/>
        </p:nvPicPr>
        <p:blipFill>
          <a:blip r:embed="rId4"/>
          <a:stretch>
            <a:fillRect/>
          </a:stretch>
        </p:blipFill>
        <p:spPr>
          <a:xfrm>
            <a:off x="4085925" y="1232361"/>
            <a:ext cx="3713055" cy="2784791"/>
          </a:xfrm>
          <a:prstGeom prst="rect">
            <a:avLst/>
          </a:prstGeom>
        </p:spPr>
      </p:pic>
      <p:pic>
        <p:nvPicPr>
          <p:cNvPr id="25" name="Picture 24">
            <a:extLst>
              <a:ext uri="{FF2B5EF4-FFF2-40B4-BE49-F238E27FC236}">
                <a16:creationId xmlns:a16="http://schemas.microsoft.com/office/drawing/2014/main" id="{86F1AF0F-E5BE-46FC-9D69-D5504C0D19E0}"/>
              </a:ext>
            </a:extLst>
          </p:cNvPr>
          <p:cNvPicPr>
            <a:picLocks noChangeAspect="1"/>
          </p:cNvPicPr>
          <p:nvPr/>
        </p:nvPicPr>
        <p:blipFill>
          <a:blip r:embed="rId5"/>
          <a:stretch>
            <a:fillRect/>
          </a:stretch>
        </p:blipFill>
        <p:spPr>
          <a:xfrm>
            <a:off x="83368" y="1247118"/>
            <a:ext cx="3923023" cy="2942267"/>
          </a:xfrm>
          <a:prstGeom prst="rect">
            <a:avLst/>
          </a:prstGeom>
        </p:spPr>
      </p:pic>
      <p:sp>
        <p:nvSpPr>
          <p:cNvPr id="27" name="TextBox 26">
            <a:extLst>
              <a:ext uri="{FF2B5EF4-FFF2-40B4-BE49-F238E27FC236}">
                <a16:creationId xmlns:a16="http://schemas.microsoft.com/office/drawing/2014/main" id="{D83D68B5-8392-4120-9EF5-75A62F6E03D6}"/>
              </a:ext>
            </a:extLst>
          </p:cNvPr>
          <p:cNvSpPr txBox="1"/>
          <p:nvPr/>
        </p:nvSpPr>
        <p:spPr>
          <a:xfrm>
            <a:off x="8869051" y="4260072"/>
            <a:ext cx="3322949" cy="276999"/>
          </a:xfrm>
          <a:prstGeom prst="rect">
            <a:avLst/>
          </a:prstGeom>
          <a:noFill/>
        </p:spPr>
        <p:txBody>
          <a:bodyPr wrap="square">
            <a:spAutoFit/>
          </a:bodyPr>
          <a:lstStyle/>
          <a:p>
            <a:r>
              <a:rPr lang="en-IN" sz="1200" b="1" dirty="0"/>
              <a:t>Boxplot (Post-normalization)</a:t>
            </a:r>
          </a:p>
        </p:txBody>
      </p:sp>
      <p:sp>
        <p:nvSpPr>
          <p:cNvPr id="29" name="TextBox 28">
            <a:extLst>
              <a:ext uri="{FF2B5EF4-FFF2-40B4-BE49-F238E27FC236}">
                <a16:creationId xmlns:a16="http://schemas.microsoft.com/office/drawing/2014/main" id="{D5717230-234A-40AE-B50E-A45E2F9CBFB7}"/>
              </a:ext>
            </a:extLst>
          </p:cNvPr>
          <p:cNvSpPr txBox="1"/>
          <p:nvPr/>
        </p:nvSpPr>
        <p:spPr>
          <a:xfrm>
            <a:off x="4623061" y="4189385"/>
            <a:ext cx="2945877" cy="276999"/>
          </a:xfrm>
          <a:prstGeom prst="rect">
            <a:avLst/>
          </a:prstGeom>
          <a:noFill/>
        </p:spPr>
        <p:txBody>
          <a:bodyPr wrap="square">
            <a:spAutoFit/>
          </a:bodyPr>
          <a:lstStyle/>
          <a:p>
            <a:r>
              <a:rPr lang="en-IN" sz="1200" b="1"/>
              <a:t>Density Plot (Expression distribution)</a:t>
            </a:r>
            <a:endParaRPr lang="en-IN" sz="1200" b="1" dirty="0"/>
          </a:p>
        </p:txBody>
      </p:sp>
      <p:sp>
        <p:nvSpPr>
          <p:cNvPr id="31" name="TextBox 30">
            <a:extLst>
              <a:ext uri="{FF2B5EF4-FFF2-40B4-BE49-F238E27FC236}">
                <a16:creationId xmlns:a16="http://schemas.microsoft.com/office/drawing/2014/main" id="{AA8DF67D-D61A-4FC5-B926-DDA5FD30FEAC}"/>
              </a:ext>
            </a:extLst>
          </p:cNvPr>
          <p:cNvSpPr txBox="1"/>
          <p:nvPr/>
        </p:nvSpPr>
        <p:spPr>
          <a:xfrm>
            <a:off x="578559" y="4189385"/>
            <a:ext cx="3464351" cy="276999"/>
          </a:xfrm>
          <a:prstGeom prst="rect">
            <a:avLst/>
          </a:prstGeom>
          <a:noFill/>
        </p:spPr>
        <p:txBody>
          <a:bodyPr wrap="square">
            <a:spAutoFit/>
          </a:bodyPr>
          <a:lstStyle/>
          <a:p>
            <a:pPr algn="ctr"/>
            <a:r>
              <a:rPr lang="en-IN" sz="1200" b="1" dirty="0"/>
              <a:t>PCA Plot (Sample clustering)</a:t>
            </a:r>
            <a:endParaRPr lang="en-IN" sz="1200" dirty="0"/>
          </a:p>
        </p:txBody>
      </p:sp>
      <p:sp>
        <p:nvSpPr>
          <p:cNvPr id="33" name="TextBox 32">
            <a:extLst>
              <a:ext uri="{FF2B5EF4-FFF2-40B4-BE49-F238E27FC236}">
                <a16:creationId xmlns:a16="http://schemas.microsoft.com/office/drawing/2014/main" id="{44BB8578-DA5E-4B93-BCCC-0CE2D51B2428}"/>
              </a:ext>
            </a:extLst>
          </p:cNvPr>
          <p:cNvSpPr txBox="1"/>
          <p:nvPr/>
        </p:nvSpPr>
        <p:spPr>
          <a:xfrm>
            <a:off x="265520" y="4964551"/>
            <a:ext cx="11555692" cy="584775"/>
          </a:xfrm>
          <a:prstGeom prst="rect">
            <a:avLst/>
          </a:prstGeom>
          <a:noFill/>
        </p:spPr>
        <p:txBody>
          <a:bodyPr wrap="square">
            <a:spAutoFit/>
          </a:bodyPr>
          <a:lstStyle/>
          <a:p>
            <a:r>
              <a:rPr lang="en-IN" sz="1600" b="1" dirty="0"/>
              <a:t>Key QC Findings: </a:t>
            </a:r>
            <a:r>
              <a:rPr lang="en-US" sz="1600" dirty="0"/>
              <a:t>Good normalization with uniform medians and overlapping density curves, though PCA reveals one outlier and dataset cannot be used for DEG analysis due to missing PCOS labels</a:t>
            </a:r>
            <a:r>
              <a:rPr lang="en-US" sz="1600" b="1" dirty="0"/>
              <a:t>.</a:t>
            </a:r>
            <a:endParaRPr lang="en-US" sz="1600" dirty="0"/>
          </a:p>
        </p:txBody>
      </p:sp>
      <p:sp>
        <p:nvSpPr>
          <p:cNvPr id="2" name="Slide Number Placeholder 1">
            <a:extLst>
              <a:ext uri="{FF2B5EF4-FFF2-40B4-BE49-F238E27FC236}">
                <a16:creationId xmlns:a16="http://schemas.microsoft.com/office/drawing/2014/main" id="{C914179A-6F97-4000-8363-F1FD19FA9954}"/>
              </a:ext>
            </a:extLst>
          </p:cNvPr>
          <p:cNvSpPr>
            <a:spLocks noGrp="1"/>
          </p:cNvSpPr>
          <p:nvPr>
            <p:ph type="sldNum" sz="quarter" idx="10"/>
          </p:nvPr>
        </p:nvSpPr>
        <p:spPr/>
        <p:txBody>
          <a:bodyPr/>
          <a:lstStyle/>
          <a:p>
            <a:fld id="{48F63A3B-78C7-47BE-AE5E-E10140E04643}" type="slidenum">
              <a:rPr lang="en-US" smtClean="0"/>
              <a:pPr/>
              <a:t>8</a:t>
            </a:fld>
            <a:endParaRPr lang="en-US" dirty="0"/>
          </a:p>
        </p:txBody>
      </p:sp>
    </p:spTree>
    <p:extLst>
      <p:ext uri="{BB962C8B-B14F-4D97-AF65-F5344CB8AC3E}">
        <p14:creationId xmlns:p14="http://schemas.microsoft.com/office/powerpoint/2010/main" val="496321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DB2E1BB2-D780-49B3-BC26-8DCA20CEFF1A}"/>
              </a:ext>
            </a:extLst>
          </p:cNvPr>
          <p:cNvSpPr>
            <a:spLocks noGrp="1"/>
          </p:cNvSpPr>
          <p:nvPr>
            <p:ph type="title"/>
          </p:nvPr>
        </p:nvSpPr>
        <p:spPr>
          <a:xfrm>
            <a:off x="-780861" y="258440"/>
            <a:ext cx="7965461" cy="524296"/>
          </a:xfrm>
        </p:spPr>
        <p:txBody>
          <a:bodyPr/>
          <a:lstStyle/>
          <a:p>
            <a:pPr algn="ctr"/>
            <a:r>
              <a:rPr lang="en-IN" sz="3200" kern="1800" dirty="0">
                <a:latin typeface="Times New Roman" panose="02020603050405020304" pitchFamily="18" charset="0"/>
                <a:ea typeface="Times New Roman" panose="02020603050405020304" pitchFamily="18" charset="0"/>
                <a:cs typeface="Times New Roman" panose="02020603050405020304" pitchFamily="18" charset="0"/>
              </a:rPr>
              <a:t>3. </a:t>
            </a:r>
            <a:r>
              <a:rPr lang="en-IN" sz="3200" b="1" kern="1800" dirty="0">
                <a:effectLst/>
                <a:latin typeface="+mn-lt"/>
                <a:ea typeface="Times New Roman" panose="02020603050405020304" pitchFamily="18" charset="0"/>
                <a:cs typeface="Times New Roman" panose="02020603050405020304" pitchFamily="18" charset="0"/>
              </a:rPr>
              <a:t>RNA-</a:t>
            </a:r>
            <a:r>
              <a:rPr lang="en-IN" sz="3200" b="1" kern="1800" dirty="0" err="1">
                <a:effectLst/>
                <a:latin typeface="+mn-lt"/>
                <a:ea typeface="Times New Roman" panose="02020603050405020304" pitchFamily="18" charset="0"/>
                <a:cs typeface="Times New Roman" panose="02020603050405020304" pitchFamily="18" charset="0"/>
              </a:rPr>
              <a:t>seq</a:t>
            </a:r>
            <a:r>
              <a:rPr lang="en-IN" sz="3200" b="1" kern="1800" dirty="0">
                <a:effectLst/>
                <a:latin typeface="+mn-lt"/>
                <a:ea typeface="Times New Roman" panose="02020603050405020304" pitchFamily="18" charset="0"/>
                <a:cs typeface="Times New Roman" panose="02020603050405020304" pitchFamily="18" charset="0"/>
              </a:rPr>
              <a:t> QC (GSE277906)</a:t>
            </a:r>
            <a:endParaRPr lang="en-IN" sz="5400" dirty="0">
              <a:latin typeface="+mn-lt"/>
            </a:endParaRPr>
          </a:p>
        </p:txBody>
      </p:sp>
      <p:pic>
        <p:nvPicPr>
          <p:cNvPr id="10" name="image11.png">
            <a:extLst>
              <a:ext uri="{FF2B5EF4-FFF2-40B4-BE49-F238E27FC236}">
                <a16:creationId xmlns:a16="http://schemas.microsoft.com/office/drawing/2014/main" id="{42C1D2C7-57E5-449C-B66C-3EFA9B609A26}"/>
              </a:ext>
            </a:extLst>
          </p:cNvPr>
          <p:cNvPicPr/>
          <p:nvPr/>
        </p:nvPicPr>
        <p:blipFill>
          <a:blip r:embed="rId3"/>
          <a:srcRect/>
          <a:stretch>
            <a:fillRect/>
          </a:stretch>
        </p:blipFill>
        <p:spPr>
          <a:xfrm>
            <a:off x="0" y="1052776"/>
            <a:ext cx="7115668" cy="2714919"/>
          </a:xfrm>
          <a:prstGeom prst="rect">
            <a:avLst/>
          </a:prstGeom>
          <a:ln/>
        </p:spPr>
      </p:pic>
      <p:sp>
        <p:nvSpPr>
          <p:cNvPr id="12" name="TextBox 11">
            <a:extLst>
              <a:ext uri="{FF2B5EF4-FFF2-40B4-BE49-F238E27FC236}">
                <a16:creationId xmlns:a16="http://schemas.microsoft.com/office/drawing/2014/main" id="{83F699D1-D2B6-4C8D-B4DE-A203FADC5519}"/>
              </a:ext>
            </a:extLst>
          </p:cNvPr>
          <p:cNvSpPr txBox="1"/>
          <p:nvPr/>
        </p:nvSpPr>
        <p:spPr>
          <a:xfrm>
            <a:off x="141402" y="3783480"/>
            <a:ext cx="6890994" cy="858953"/>
          </a:xfrm>
          <a:prstGeom prst="rect">
            <a:avLst/>
          </a:prstGeom>
          <a:noFill/>
        </p:spPr>
        <p:txBody>
          <a:bodyPr wrap="square">
            <a:spAutoFit/>
          </a:bodyPr>
          <a:lstStyle/>
          <a:p>
            <a:pPr algn="just">
              <a:lnSpc>
                <a:spcPct val="115000"/>
              </a:lnSpc>
            </a:pPr>
            <a:r>
              <a:rPr lang="en-IN" sz="1100" b="1" dirty="0">
                <a:effectLst/>
                <a:latin typeface="Cambria" panose="02040503050406030204" pitchFamily="18" charset="0"/>
                <a:ea typeface="Arial" panose="020B0604020202020204" pitchFamily="34" charset="0"/>
                <a:cs typeface="Calibri" panose="020F0502020204030204" pitchFamily="34" charset="0"/>
              </a:rPr>
              <a:t>Raw RNA-</a:t>
            </a:r>
            <a:r>
              <a:rPr lang="en-IN" sz="1100" b="1" dirty="0" err="1">
                <a:effectLst/>
                <a:latin typeface="Cambria" panose="02040503050406030204" pitchFamily="18" charset="0"/>
                <a:ea typeface="Arial" panose="020B0604020202020204" pitchFamily="34" charset="0"/>
                <a:cs typeface="Calibri" panose="020F0502020204030204" pitchFamily="34" charset="0"/>
              </a:rPr>
              <a:t>seq</a:t>
            </a:r>
            <a:r>
              <a:rPr lang="en-IN" sz="1100" b="1" dirty="0">
                <a:effectLst/>
                <a:latin typeface="Cambria" panose="02040503050406030204" pitchFamily="18" charset="0"/>
                <a:ea typeface="Arial" panose="020B0604020202020204" pitchFamily="34" charset="0"/>
                <a:cs typeface="Calibri" panose="020F0502020204030204" pitchFamily="34" charset="0"/>
              </a:rPr>
              <a:t> counts summary for dataset GSE277906. </a:t>
            </a:r>
            <a:r>
              <a:rPr lang="en-IN" sz="1100" dirty="0" err="1">
                <a:effectLst/>
                <a:latin typeface="Cambria" panose="02040503050406030204" pitchFamily="18" charset="0"/>
                <a:ea typeface="Arial" panose="020B0604020202020204" pitchFamily="34" charset="0"/>
                <a:cs typeface="Calibri" panose="020F0502020204030204" pitchFamily="34" charset="0"/>
              </a:rPr>
              <a:t>Barplot</a:t>
            </a:r>
            <a:r>
              <a:rPr lang="en-IN" sz="1100" dirty="0">
                <a:effectLst/>
                <a:latin typeface="Cambria" panose="02040503050406030204" pitchFamily="18" charset="0"/>
                <a:ea typeface="Arial" panose="020B0604020202020204" pitchFamily="34" charset="0"/>
                <a:cs typeface="Calibri" panose="020F0502020204030204" pitchFamily="34" charset="0"/>
              </a:rPr>
              <a:t> showing total sequencing reads per sample before </a:t>
            </a:r>
            <a:r>
              <a:rPr lang="en-IN" sz="1100" dirty="0" err="1">
                <a:effectLst/>
                <a:latin typeface="Cambria" panose="02040503050406030204" pitchFamily="18" charset="0"/>
                <a:ea typeface="Arial" panose="020B0604020202020204" pitchFamily="34" charset="0"/>
                <a:cs typeface="Calibri" panose="020F0502020204030204" pitchFamily="34" charset="0"/>
              </a:rPr>
              <a:t>preprocessing.The</a:t>
            </a:r>
            <a:r>
              <a:rPr lang="en-IN" sz="1100" dirty="0">
                <a:effectLst/>
                <a:latin typeface="Cambria" panose="02040503050406030204" pitchFamily="18" charset="0"/>
                <a:ea typeface="Arial" panose="020B0604020202020204" pitchFamily="34" charset="0"/>
                <a:cs typeface="Calibri" panose="020F0502020204030204" pitchFamily="34" charset="0"/>
              </a:rPr>
              <a:t> variation in total counts reflects differences in sequencing depth between </a:t>
            </a:r>
            <a:r>
              <a:rPr lang="en-IN" sz="1100" dirty="0" err="1">
                <a:effectLst/>
                <a:latin typeface="Cambria" panose="02040503050406030204" pitchFamily="18" charset="0"/>
                <a:ea typeface="Arial" panose="020B0604020202020204" pitchFamily="34" charset="0"/>
                <a:cs typeface="Calibri" panose="020F0502020204030204" pitchFamily="34" charset="0"/>
              </a:rPr>
              <a:t>samples.These</a:t>
            </a:r>
            <a:r>
              <a:rPr lang="en-IN" sz="1100" dirty="0">
                <a:effectLst/>
                <a:latin typeface="Cambria" panose="02040503050406030204" pitchFamily="18" charset="0"/>
                <a:ea typeface="Arial" panose="020B0604020202020204" pitchFamily="34" charset="0"/>
                <a:cs typeface="Calibri" panose="020F0502020204030204" pitchFamily="34" charset="0"/>
              </a:rPr>
              <a:t> values were used by DESeq2 to compute size factors and normalize the data before VST transformation</a:t>
            </a:r>
            <a:endParaRPr lang="en-IN" sz="1100" dirty="0"/>
          </a:p>
        </p:txBody>
      </p:sp>
      <p:pic>
        <p:nvPicPr>
          <p:cNvPr id="4" name="Picture 3">
            <a:extLst>
              <a:ext uri="{FF2B5EF4-FFF2-40B4-BE49-F238E27FC236}">
                <a16:creationId xmlns:a16="http://schemas.microsoft.com/office/drawing/2014/main" id="{612A16A3-593A-46DC-BA74-12C642E95BD8}"/>
              </a:ext>
            </a:extLst>
          </p:cNvPr>
          <p:cNvPicPr>
            <a:picLocks noChangeAspect="1"/>
          </p:cNvPicPr>
          <p:nvPr/>
        </p:nvPicPr>
        <p:blipFill>
          <a:blip r:embed="rId4"/>
          <a:stretch>
            <a:fillRect/>
          </a:stretch>
        </p:blipFill>
        <p:spPr>
          <a:xfrm>
            <a:off x="7184600" y="965506"/>
            <a:ext cx="4741879" cy="3793503"/>
          </a:xfrm>
          <a:prstGeom prst="rect">
            <a:avLst/>
          </a:prstGeom>
        </p:spPr>
      </p:pic>
      <p:sp>
        <p:nvSpPr>
          <p:cNvPr id="16" name="TextBox 15">
            <a:extLst>
              <a:ext uri="{FF2B5EF4-FFF2-40B4-BE49-F238E27FC236}">
                <a16:creationId xmlns:a16="http://schemas.microsoft.com/office/drawing/2014/main" id="{C32A9C6D-2B5E-4711-8786-616C045ACB46}"/>
              </a:ext>
            </a:extLst>
          </p:cNvPr>
          <p:cNvSpPr txBox="1"/>
          <p:nvPr/>
        </p:nvSpPr>
        <p:spPr>
          <a:xfrm>
            <a:off x="7184600" y="4759009"/>
            <a:ext cx="4741879" cy="1633139"/>
          </a:xfrm>
          <a:prstGeom prst="rect">
            <a:avLst/>
          </a:prstGeom>
          <a:noFill/>
        </p:spPr>
        <p:txBody>
          <a:bodyPr wrap="square">
            <a:spAutoFit/>
          </a:bodyPr>
          <a:lstStyle/>
          <a:p>
            <a:pPr>
              <a:lnSpc>
                <a:spcPct val="115000"/>
              </a:lnSpc>
            </a:pPr>
            <a:r>
              <a:rPr lang="en-IN" sz="1100" b="1" dirty="0">
                <a:effectLst/>
                <a:latin typeface="Cambria" panose="02040503050406030204" pitchFamily="18" charset="0"/>
                <a:ea typeface="Arial" panose="020B0604020202020204" pitchFamily="34" charset="0"/>
                <a:cs typeface="Calibri" panose="020F0502020204030204" pitchFamily="34" charset="0"/>
              </a:rPr>
              <a:t>VST-normalised expression distribution across samples.</a:t>
            </a:r>
            <a:endParaRPr lang="en-IN" sz="1100" dirty="0">
              <a:effectLst/>
              <a:latin typeface="Arial" panose="020B0604020202020204" pitchFamily="34" charset="0"/>
              <a:ea typeface="Arial" panose="020B0604020202020204" pitchFamily="34" charset="0"/>
            </a:endParaRPr>
          </a:p>
          <a:p>
            <a:pPr algn="just">
              <a:lnSpc>
                <a:spcPct val="115000"/>
              </a:lnSpc>
            </a:pPr>
            <a:r>
              <a:rPr lang="en-IN" sz="1100" dirty="0">
                <a:effectLst/>
                <a:latin typeface="Cambria" panose="02040503050406030204" pitchFamily="18" charset="0"/>
                <a:ea typeface="Arial" panose="020B0604020202020204" pitchFamily="34" charset="0"/>
                <a:cs typeface="Calibri" panose="020F0502020204030204" pitchFamily="34" charset="0"/>
              </a:rPr>
              <a:t>Boxplots representing the variance-stabilised (VST) gene expression values for all Control and PCOS samples in dataset GSE277906.After DESeq2 normalization and VST transformation, all samples show aligned medians and comparable interquartile ranges, indicating successful correction for sequencing depth and reduction of </a:t>
            </a:r>
            <a:r>
              <a:rPr lang="en-IN" sz="1100" dirty="0" err="1">
                <a:effectLst/>
                <a:latin typeface="Cambria" panose="02040503050406030204" pitchFamily="18" charset="0"/>
                <a:ea typeface="Arial" panose="020B0604020202020204" pitchFamily="34" charset="0"/>
                <a:cs typeface="Calibri" panose="020F0502020204030204" pitchFamily="34" charset="0"/>
              </a:rPr>
              <a:t>heteroscedasticity.This</a:t>
            </a:r>
            <a:r>
              <a:rPr lang="en-IN" sz="1100" dirty="0">
                <a:effectLst/>
                <a:latin typeface="Cambria" panose="02040503050406030204" pitchFamily="18" charset="0"/>
                <a:ea typeface="Arial" panose="020B0604020202020204" pitchFamily="34" charset="0"/>
                <a:cs typeface="Calibri" panose="020F0502020204030204" pitchFamily="34" charset="0"/>
              </a:rPr>
              <a:t> uniform distribution confirms that the dataset is suitable for downstream PCA, clustering, and differential expression analysis.</a:t>
            </a:r>
            <a:endParaRPr lang="en-IN" sz="1100" dirty="0">
              <a:effectLst/>
              <a:latin typeface="Arial" panose="020B0604020202020204" pitchFamily="34" charset="0"/>
              <a:ea typeface="Arial" panose="020B0604020202020204" pitchFamily="34" charset="0"/>
            </a:endParaRPr>
          </a:p>
        </p:txBody>
      </p:sp>
      <p:sp>
        <p:nvSpPr>
          <p:cNvPr id="18" name="TextBox 17">
            <a:extLst>
              <a:ext uri="{FF2B5EF4-FFF2-40B4-BE49-F238E27FC236}">
                <a16:creationId xmlns:a16="http://schemas.microsoft.com/office/drawing/2014/main" id="{A0446F01-40FB-4685-9917-F8EABAC26DC5}"/>
              </a:ext>
            </a:extLst>
          </p:cNvPr>
          <p:cNvSpPr txBox="1"/>
          <p:nvPr/>
        </p:nvSpPr>
        <p:spPr>
          <a:xfrm>
            <a:off x="141402" y="5389725"/>
            <a:ext cx="6683604" cy="830997"/>
          </a:xfrm>
          <a:prstGeom prst="rect">
            <a:avLst/>
          </a:prstGeom>
          <a:noFill/>
        </p:spPr>
        <p:txBody>
          <a:bodyPr wrap="square">
            <a:spAutoFit/>
          </a:bodyPr>
          <a:lstStyle/>
          <a:p>
            <a:pPr algn="just"/>
            <a:r>
              <a:rPr lang="en-US" sz="1600" b="1" dirty="0"/>
              <a:t>Key QC Finding: </a:t>
            </a:r>
            <a:r>
              <a:rPr lang="en-US" sz="1600" dirty="0"/>
              <a:t>VST normalization produced uniform expression, PCA showed clear clustering without technical outliers, and distance heatmaps confirmed strong internal consistency. </a:t>
            </a:r>
          </a:p>
        </p:txBody>
      </p:sp>
      <p:sp>
        <p:nvSpPr>
          <p:cNvPr id="7" name="Slide Number Placeholder 6">
            <a:extLst>
              <a:ext uri="{FF2B5EF4-FFF2-40B4-BE49-F238E27FC236}">
                <a16:creationId xmlns:a16="http://schemas.microsoft.com/office/drawing/2014/main" id="{7FAC27A7-6A1F-41A6-B45A-A04F1DE81A75}"/>
              </a:ext>
            </a:extLst>
          </p:cNvPr>
          <p:cNvSpPr>
            <a:spLocks noGrp="1"/>
          </p:cNvSpPr>
          <p:nvPr>
            <p:ph type="sldNum" sz="quarter" idx="10"/>
          </p:nvPr>
        </p:nvSpPr>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4091387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F2596A0-494A-4D7D-B2CF-958CEA8FB7FF}"/>
              </a:ext>
            </a:extLst>
          </p:cNvPr>
          <p:cNvSpPr txBox="1"/>
          <p:nvPr/>
        </p:nvSpPr>
        <p:spPr>
          <a:xfrm>
            <a:off x="544791" y="1398065"/>
            <a:ext cx="6855250" cy="4524957"/>
          </a:xfrm>
          <a:prstGeom prst="rect">
            <a:avLst/>
          </a:prstGeom>
          <a:noFill/>
        </p:spPr>
        <p:txBody>
          <a:bodyPr wrap="square">
            <a:spAutoFit/>
          </a:bodyPr>
          <a:lstStyle/>
          <a:p>
            <a:pPr>
              <a:lnSpc>
                <a:spcPct val="115000"/>
              </a:lnSpc>
            </a:pPr>
            <a:r>
              <a:rPr lang="en-IN" sz="1800" dirty="0">
                <a:effectLst/>
                <a:latin typeface="Cambria" panose="02040503050406030204" pitchFamily="18" charset="0"/>
                <a:ea typeface="Arial" panose="020B0604020202020204" pitchFamily="34" charset="0"/>
                <a:cs typeface="Calibri" panose="020F0502020204030204" pitchFamily="34" charset="0"/>
              </a:rPr>
              <a:t>A dataset screening step was essential to avoid invalid comparisons:</a:t>
            </a:r>
            <a:endParaRPr lang="en-IN" sz="1800" dirty="0">
              <a:effectLst/>
              <a:latin typeface="Arial" panose="020B0604020202020204" pitchFamily="34" charset="0"/>
              <a:ea typeface="Arial" panose="020B0604020202020204" pitchFamily="34" charset="0"/>
            </a:endParaRPr>
          </a:p>
          <a:p>
            <a:pPr marL="342900" lvl="0" indent="-342900">
              <a:lnSpc>
                <a:spcPct val="115000"/>
              </a:lnSpc>
              <a:buFont typeface="Symbol" panose="05050102010706020507" pitchFamily="18" charset="2"/>
              <a:buChar char=""/>
            </a:pPr>
            <a:r>
              <a:rPr lang="en-IN" sz="1800" dirty="0">
                <a:effectLst/>
                <a:latin typeface="Cambria" panose="02040503050406030204" pitchFamily="18" charset="0"/>
                <a:ea typeface="Arial" panose="020B0604020202020204" pitchFamily="34" charset="0"/>
                <a:cs typeface="Calibri" panose="020F0502020204030204" pitchFamily="34" charset="0"/>
              </a:rPr>
              <a:t>GSE98421 - Valid: PCOS (n=4) vs Control (n=4). </a:t>
            </a:r>
            <a:endParaRPr lang="en-IN" sz="1800" dirty="0">
              <a:effectLst/>
              <a:latin typeface="Arial" panose="020B0604020202020204" pitchFamily="34" charset="0"/>
              <a:ea typeface="Arial" panose="020B0604020202020204" pitchFamily="34" charset="0"/>
            </a:endParaRPr>
          </a:p>
          <a:p>
            <a:pPr marL="342900" lvl="0" indent="-342900">
              <a:lnSpc>
                <a:spcPct val="115000"/>
              </a:lnSpc>
              <a:buFont typeface="Symbol" panose="05050102010706020507" pitchFamily="18" charset="2"/>
              <a:buChar char=""/>
            </a:pPr>
            <a:r>
              <a:rPr lang="en-IN" sz="1800" dirty="0">
                <a:effectLst/>
                <a:latin typeface="Cambria" panose="02040503050406030204" pitchFamily="18" charset="0"/>
                <a:ea typeface="Arial" panose="020B0604020202020204" pitchFamily="34" charset="0"/>
                <a:cs typeface="Calibri" panose="020F0502020204030204" pitchFamily="34" charset="0"/>
              </a:rPr>
              <a:t>GSE114419 - Invalid: All 6 samples are Controls only (placental tissue). </a:t>
            </a:r>
            <a:endParaRPr lang="en-IN" sz="1800" dirty="0">
              <a:effectLst/>
              <a:latin typeface="Arial" panose="020B0604020202020204" pitchFamily="34" charset="0"/>
              <a:ea typeface="Arial" panose="020B0604020202020204" pitchFamily="34" charset="0"/>
            </a:endParaRPr>
          </a:p>
          <a:p>
            <a:pPr marL="342900" lvl="0" indent="-342900">
              <a:lnSpc>
                <a:spcPct val="115000"/>
              </a:lnSpc>
              <a:buFont typeface="Symbol" panose="05050102010706020507" pitchFamily="18" charset="2"/>
              <a:buChar char=""/>
            </a:pPr>
            <a:r>
              <a:rPr lang="en-IN" sz="1800" dirty="0">
                <a:effectLst/>
                <a:latin typeface="Cambria" panose="02040503050406030204" pitchFamily="18" charset="0"/>
                <a:ea typeface="Arial" panose="020B0604020202020204" pitchFamily="34" charset="0"/>
                <a:cs typeface="Calibri" panose="020F0502020204030204" pitchFamily="34" charset="0"/>
              </a:rPr>
              <a:t>GSE137684 - Invalid: No disease labels; GEO metadata provides only GSM IDs without PCOS/Control → contrast cannot be constructed. </a:t>
            </a:r>
            <a:endParaRPr lang="en-IN" sz="1800" dirty="0">
              <a:effectLst/>
              <a:latin typeface="Arial" panose="020B0604020202020204" pitchFamily="34" charset="0"/>
              <a:ea typeface="Arial" panose="020B0604020202020204" pitchFamily="34" charset="0"/>
            </a:endParaRPr>
          </a:p>
          <a:p>
            <a:pPr marL="342900" lvl="0" indent="-342900">
              <a:lnSpc>
                <a:spcPct val="115000"/>
              </a:lnSpc>
              <a:buFont typeface="Symbol" panose="05050102010706020507" pitchFamily="18" charset="2"/>
              <a:buChar char=""/>
            </a:pPr>
            <a:r>
              <a:rPr lang="en-IN" sz="1800" dirty="0">
                <a:effectLst/>
                <a:latin typeface="Cambria" panose="02040503050406030204" pitchFamily="18" charset="0"/>
                <a:ea typeface="Arial" panose="020B0604020202020204" pitchFamily="34" charset="0"/>
                <a:cs typeface="Calibri" panose="020F0502020204030204" pitchFamily="34" charset="0"/>
              </a:rPr>
              <a:t>GSE277906 (RNA-</a:t>
            </a:r>
            <a:r>
              <a:rPr lang="en-IN" sz="1800" dirty="0" err="1">
                <a:effectLst/>
                <a:latin typeface="Cambria" panose="02040503050406030204" pitchFamily="18" charset="0"/>
                <a:ea typeface="Arial" panose="020B0604020202020204" pitchFamily="34" charset="0"/>
                <a:cs typeface="Calibri" panose="020F0502020204030204" pitchFamily="34" charset="0"/>
              </a:rPr>
              <a:t>seq</a:t>
            </a:r>
            <a:r>
              <a:rPr lang="en-IN" sz="1800" dirty="0">
                <a:effectLst/>
                <a:latin typeface="Cambria" panose="02040503050406030204" pitchFamily="18" charset="0"/>
                <a:ea typeface="Arial" panose="020B0604020202020204" pitchFamily="34" charset="0"/>
                <a:cs typeface="Calibri" panose="020F0502020204030204" pitchFamily="34" charset="0"/>
              </a:rPr>
              <a:t>) - Valid: PCOS vs Control. (Handled in Objective 3 and DEG task separately)</a:t>
            </a:r>
            <a:endParaRPr lang="en-IN" sz="1800" dirty="0">
              <a:effectLst/>
              <a:latin typeface="Arial" panose="020B0604020202020204" pitchFamily="34" charset="0"/>
              <a:ea typeface="Arial" panose="020B0604020202020204" pitchFamily="34" charset="0"/>
            </a:endParaRPr>
          </a:p>
          <a:p>
            <a:pPr>
              <a:lnSpc>
                <a:spcPct val="115000"/>
              </a:lnSpc>
            </a:pPr>
            <a:r>
              <a:rPr lang="en-IN" sz="1800" dirty="0">
                <a:effectLst/>
                <a:latin typeface="Cambria" panose="02040503050406030204" pitchFamily="18" charset="0"/>
                <a:ea typeface="Arial" panose="020B0604020202020204" pitchFamily="34" charset="0"/>
                <a:cs typeface="Calibri" panose="020F0502020204030204" pitchFamily="34" charset="0"/>
              </a:rPr>
              <a:t> </a:t>
            </a:r>
            <a:endParaRPr lang="en-IN" sz="1800" dirty="0">
              <a:effectLst/>
              <a:latin typeface="Arial" panose="020B0604020202020204" pitchFamily="34" charset="0"/>
              <a:ea typeface="Arial" panose="020B0604020202020204" pitchFamily="34" charset="0"/>
            </a:endParaRPr>
          </a:p>
          <a:p>
            <a:pPr>
              <a:lnSpc>
                <a:spcPct val="115000"/>
              </a:lnSpc>
            </a:pPr>
            <a:r>
              <a:rPr lang="en-IN" sz="1800" dirty="0">
                <a:effectLst/>
                <a:latin typeface="Cambria" panose="02040503050406030204" pitchFamily="18" charset="0"/>
                <a:ea typeface="Arial" panose="020B0604020202020204" pitchFamily="34" charset="0"/>
                <a:cs typeface="Calibri" panose="020F0502020204030204" pitchFamily="34" charset="0"/>
              </a:rPr>
              <a:t>Therefore, DEG analysis was performed only for datasets with valid case-control annotation:</a:t>
            </a:r>
            <a:endParaRPr lang="en-IN" sz="1800" dirty="0">
              <a:effectLst/>
              <a:latin typeface="Arial" panose="020B0604020202020204" pitchFamily="34" charset="0"/>
              <a:ea typeface="Arial" panose="020B0604020202020204" pitchFamily="34" charset="0"/>
            </a:endParaRPr>
          </a:p>
          <a:p>
            <a:pPr marL="285750" indent="-285750">
              <a:lnSpc>
                <a:spcPct val="115000"/>
              </a:lnSpc>
              <a:buFont typeface="Arial" panose="020B0604020202020204" pitchFamily="34" charset="0"/>
              <a:buChar char="•"/>
            </a:pPr>
            <a:r>
              <a:rPr lang="en-IN" sz="1800" dirty="0">
                <a:effectLst/>
                <a:latin typeface="Cambria" panose="02040503050406030204" pitchFamily="18" charset="0"/>
                <a:ea typeface="Arial" panose="020B0604020202020204" pitchFamily="34" charset="0"/>
                <a:cs typeface="Calibri" panose="020F0502020204030204" pitchFamily="34" charset="0"/>
              </a:rPr>
              <a:t>GSE98421 (</a:t>
            </a:r>
            <a:r>
              <a:rPr lang="en-IN" sz="1800" dirty="0" err="1">
                <a:effectLst/>
                <a:latin typeface="Cambria" panose="02040503050406030204" pitchFamily="18" charset="0"/>
                <a:ea typeface="Arial" panose="020B0604020202020204" pitchFamily="34" charset="0"/>
                <a:cs typeface="Calibri" panose="020F0502020204030204" pitchFamily="34" charset="0"/>
              </a:rPr>
              <a:t>limma</a:t>
            </a:r>
            <a:r>
              <a:rPr lang="en-IN" sz="1800" dirty="0">
                <a:effectLst/>
                <a:latin typeface="Cambria" panose="02040503050406030204" pitchFamily="18" charset="0"/>
                <a:ea typeface="Arial" panose="020B0604020202020204" pitchFamily="34" charset="0"/>
                <a:cs typeface="Calibri" panose="020F0502020204030204" pitchFamily="34" charset="0"/>
              </a:rPr>
              <a:t>)</a:t>
            </a:r>
            <a:endParaRPr lang="en-IN" sz="1800" dirty="0">
              <a:effectLst/>
              <a:latin typeface="Arial" panose="020B0604020202020204" pitchFamily="34" charset="0"/>
              <a:ea typeface="Arial" panose="020B0604020202020204" pitchFamily="34" charset="0"/>
            </a:endParaRPr>
          </a:p>
          <a:p>
            <a:pPr marL="285750" indent="-285750">
              <a:lnSpc>
                <a:spcPct val="115000"/>
              </a:lnSpc>
              <a:buFont typeface="Arial" panose="020B0604020202020204" pitchFamily="34" charset="0"/>
              <a:buChar char="•"/>
            </a:pPr>
            <a:r>
              <a:rPr lang="en-IN" sz="1800" dirty="0">
                <a:effectLst/>
                <a:latin typeface="Cambria" panose="02040503050406030204" pitchFamily="18" charset="0"/>
                <a:ea typeface="Arial" panose="020B0604020202020204" pitchFamily="34" charset="0"/>
                <a:cs typeface="Calibri" panose="020F0502020204030204" pitchFamily="34" charset="0"/>
              </a:rPr>
              <a:t>GSE277906 (DESeq2)</a:t>
            </a:r>
            <a:endParaRPr lang="en-IN" sz="1800" dirty="0">
              <a:effectLst/>
              <a:latin typeface="Arial" panose="020B0604020202020204" pitchFamily="34" charset="0"/>
              <a:ea typeface="Arial" panose="020B0604020202020204" pitchFamily="34" charset="0"/>
            </a:endParaRPr>
          </a:p>
        </p:txBody>
      </p:sp>
      <p:sp>
        <p:nvSpPr>
          <p:cNvPr id="15" name="TextBox 14">
            <a:extLst>
              <a:ext uri="{FF2B5EF4-FFF2-40B4-BE49-F238E27FC236}">
                <a16:creationId xmlns:a16="http://schemas.microsoft.com/office/drawing/2014/main" id="{1DB866A5-B863-4ED1-ACB7-361EC544D7AE}"/>
              </a:ext>
            </a:extLst>
          </p:cNvPr>
          <p:cNvSpPr txBox="1"/>
          <p:nvPr/>
        </p:nvSpPr>
        <p:spPr>
          <a:xfrm>
            <a:off x="238027" y="551897"/>
            <a:ext cx="8642022" cy="1176797"/>
          </a:xfrm>
          <a:prstGeom prst="rect">
            <a:avLst/>
          </a:prstGeom>
          <a:noFill/>
        </p:spPr>
        <p:txBody>
          <a:bodyPr wrap="square">
            <a:spAutoFit/>
          </a:bodyPr>
          <a:lstStyle/>
          <a:p>
            <a:pPr>
              <a:lnSpc>
                <a:spcPct val="115000"/>
              </a:lnSpc>
            </a:pPr>
            <a:r>
              <a:rPr lang="en-IN" sz="3200" b="1" dirty="0">
                <a:effectLst/>
                <a:latin typeface="Cambria" panose="02040503050406030204" pitchFamily="18" charset="0"/>
                <a:ea typeface="Arial" panose="020B0604020202020204" pitchFamily="34" charset="0"/>
                <a:cs typeface="Calibri" panose="020F0502020204030204" pitchFamily="34" charset="0"/>
              </a:rPr>
              <a:t>Dataset Validation Before DEG Analysis</a:t>
            </a:r>
            <a:endParaRPr lang="en-IN" sz="3200" dirty="0">
              <a:effectLst/>
              <a:latin typeface="Arial" panose="020B0604020202020204" pitchFamily="34" charset="0"/>
              <a:ea typeface="Arial" panose="020B0604020202020204" pitchFamily="34" charset="0"/>
            </a:endParaRPr>
          </a:p>
          <a:p>
            <a:pPr>
              <a:lnSpc>
                <a:spcPct val="115000"/>
              </a:lnSpc>
            </a:pPr>
            <a:r>
              <a:rPr lang="en-IN" sz="3200" dirty="0">
                <a:effectLst/>
                <a:latin typeface="Cambria" panose="02040503050406030204" pitchFamily="18" charset="0"/>
                <a:ea typeface="Arial" panose="020B0604020202020204" pitchFamily="34" charset="0"/>
                <a:cs typeface="Calibri" panose="020F0502020204030204" pitchFamily="34" charset="0"/>
              </a:rPr>
              <a:t> </a:t>
            </a:r>
            <a:endParaRPr lang="en-IN" sz="32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3969996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DB2E1BB2-D780-49B3-BC26-8DCA20CEFF1A}"/>
              </a:ext>
            </a:extLst>
          </p:cNvPr>
          <p:cNvSpPr>
            <a:spLocks noGrp="1"/>
          </p:cNvSpPr>
          <p:nvPr>
            <p:ph type="title"/>
          </p:nvPr>
        </p:nvSpPr>
        <p:spPr>
          <a:xfrm>
            <a:off x="432940" y="257165"/>
            <a:ext cx="8861889" cy="524296"/>
          </a:xfrm>
        </p:spPr>
        <p:txBody>
          <a:bodyPr/>
          <a:lstStyle/>
          <a:p>
            <a:r>
              <a:rPr lang="en-IN" sz="3200" b="1" kern="1800" dirty="0">
                <a:effectLst/>
                <a:latin typeface="Times New Roman" panose="02020603050405020304" pitchFamily="18" charset="0"/>
                <a:ea typeface="Times New Roman" panose="02020603050405020304" pitchFamily="18" charset="0"/>
                <a:cs typeface="Times New Roman" panose="02020603050405020304" pitchFamily="18" charset="0"/>
              </a:rPr>
              <a:t>4. (a)  DEG Analysis (limma-GSE98421)</a:t>
            </a:r>
            <a:endParaRPr lang="en-IN" sz="5400" dirty="0">
              <a:latin typeface="+mn-lt"/>
            </a:endParaRPr>
          </a:p>
        </p:txBody>
      </p:sp>
      <p:sp>
        <p:nvSpPr>
          <p:cNvPr id="27" name="TextBox 26">
            <a:extLst>
              <a:ext uri="{FF2B5EF4-FFF2-40B4-BE49-F238E27FC236}">
                <a16:creationId xmlns:a16="http://schemas.microsoft.com/office/drawing/2014/main" id="{D83D68B5-8392-4120-9EF5-75A62F6E03D6}"/>
              </a:ext>
            </a:extLst>
          </p:cNvPr>
          <p:cNvSpPr txBox="1"/>
          <p:nvPr/>
        </p:nvSpPr>
        <p:spPr>
          <a:xfrm>
            <a:off x="8474305" y="4269623"/>
            <a:ext cx="3322949" cy="276999"/>
          </a:xfrm>
          <a:prstGeom prst="rect">
            <a:avLst/>
          </a:prstGeom>
          <a:noFill/>
        </p:spPr>
        <p:txBody>
          <a:bodyPr wrap="square">
            <a:spAutoFit/>
          </a:bodyPr>
          <a:lstStyle/>
          <a:p>
            <a:pPr algn="ctr"/>
            <a:r>
              <a:rPr lang="en-IN" sz="1200" b="1" dirty="0"/>
              <a:t>Volcano plot </a:t>
            </a:r>
          </a:p>
        </p:txBody>
      </p:sp>
      <p:sp>
        <p:nvSpPr>
          <p:cNvPr id="29" name="TextBox 28">
            <a:extLst>
              <a:ext uri="{FF2B5EF4-FFF2-40B4-BE49-F238E27FC236}">
                <a16:creationId xmlns:a16="http://schemas.microsoft.com/office/drawing/2014/main" id="{D5717230-234A-40AE-B50E-A45E2F9CBFB7}"/>
              </a:ext>
            </a:extLst>
          </p:cNvPr>
          <p:cNvSpPr txBox="1"/>
          <p:nvPr/>
        </p:nvSpPr>
        <p:spPr>
          <a:xfrm>
            <a:off x="4415671" y="4571425"/>
            <a:ext cx="2945877" cy="276999"/>
          </a:xfrm>
          <a:prstGeom prst="rect">
            <a:avLst/>
          </a:prstGeom>
          <a:noFill/>
        </p:spPr>
        <p:txBody>
          <a:bodyPr wrap="square">
            <a:spAutoFit/>
          </a:bodyPr>
          <a:lstStyle/>
          <a:p>
            <a:pPr algn="ctr"/>
            <a:r>
              <a:rPr lang="en-IN" sz="1200" b="1" dirty="0"/>
              <a:t>Sample Distance Heatmap</a:t>
            </a:r>
          </a:p>
        </p:txBody>
      </p:sp>
      <p:sp>
        <p:nvSpPr>
          <p:cNvPr id="31" name="TextBox 30">
            <a:extLst>
              <a:ext uri="{FF2B5EF4-FFF2-40B4-BE49-F238E27FC236}">
                <a16:creationId xmlns:a16="http://schemas.microsoft.com/office/drawing/2014/main" id="{AA8DF67D-D61A-4FC5-B926-DDA5FD30FEAC}"/>
              </a:ext>
            </a:extLst>
          </p:cNvPr>
          <p:cNvSpPr txBox="1"/>
          <p:nvPr/>
        </p:nvSpPr>
        <p:spPr>
          <a:xfrm>
            <a:off x="178912" y="4571425"/>
            <a:ext cx="3464351" cy="276999"/>
          </a:xfrm>
          <a:prstGeom prst="rect">
            <a:avLst/>
          </a:prstGeom>
          <a:noFill/>
        </p:spPr>
        <p:txBody>
          <a:bodyPr wrap="square">
            <a:spAutoFit/>
          </a:bodyPr>
          <a:lstStyle/>
          <a:p>
            <a:pPr algn="ctr"/>
            <a:r>
              <a:rPr lang="en-IN" sz="1200" b="1" dirty="0"/>
              <a:t>MDS Plot</a:t>
            </a:r>
            <a:endParaRPr lang="en-IN" sz="1200" dirty="0"/>
          </a:p>
        </p:txBody>
      </p:sp>
      <p:sp>
        <p:nvSpPr>
          <p:cNvPr id="33" name="TextBox 32">
            <a:extLst>
              <a:ext uri="{FF2B5EF4-FFF2-40B4-BE49-F238E27FC236}">
                <a16:creationId xmlns:a16="http://schemas.microsoft.com/office/drawing/2014/main" id="{44BB8578-DA5E-4B93-BCCC-0CE2D51B2428}"/>
              </a:ext>
            </a:extLst>
          </p:cNvPr>
          <p:cNvSpPr txBox="1"/>
          <p:nvPr/>
        </p:nvSpPr>
        <p:spPr>
          <a:xfrm>
            <a:off x="265520" y="4865589"/>
            <a:ext cx="11555692" cy="1815882"/>
          </a:xfrm>
          <a:prstGeom prst="rect">
            <a:avLst/>
          </a:prstGeom>
          <a:noFill/>
        </p:spPr>
        <p:txBody>
          <a:bodyPr wrap="square">
            <a:spAutoFit/>
          </a:bodyPr>
          <a:lstStyle/>
          <a:p>
            <a:r>
              <a:rPr lang="en-IN" sz="1600" b="1" dirty="0"/>
              <a:t>Key QC Findings:</a:t>
            </a:r>
          </a:p>
          <a:p>
            <a:pPr marL="342900" indent="-342900">
              <a:buFont typeface="+mj-lt"/>
              <a:buAutoNum type="arabicPeriod"/>
            </a:pPr>
            <a:r>
              <a:rPr lang="en-US" sz="1600" dirty="0"/>
              <a:t>MDS plot shows clear separation between PCOS and control samples, indicating biologically meaningful variation suitable for DEG modelling.</a:t>
            </a:r>
          </a:p>
          <a:p>
            <a:pPr marL="342900" indent="-342900">
              <a:buFont typeface="+mj-lt"/>
              <a:buAutoNum type="arabicPeriod"/>
            </a:pPr>
            <a:r>
              <a:rPr lang="en-US" sz="1600" dirty="0"/>
              <a:t>Sample distance heatmap confirms consistent clustering within groups and absence of major outliers.</a:t>
            </a:r>
          </a:p>
          <a:p>
            <a:pPr marL="342900" indent="-342900">
              <a:buFont typeface="+mj-lt"/>
              <a:buAutoNum type="arabicPeriod"/>
            </a:pPr>
            <a:r>
              <a:rPr lang="en-US" sz="1600" dirty="0"/>
              <a:t>Volcano plot highlights genes showing differential expression trends, with several transcripts crossing significance cutoffs under relaxed thresholds.</a:t>
            </a:r>
          </a:p>
          <a:p>
            <a:endParaRPr lang="en-US" sz="1600" dirty="0"/>
          </a:p>
        </p:txBody>
      </p:sp>
      <p:sp>
        <p:nvSpPr>
          <p:cNvPr id="2" name="Slide Number Placeholder 1">
            <a:extLst>
              <a:ext uri="{FF2B5EF4-FFF2-40B4-BE49-F238E27FC236}">
                <a16:creationId xmlns:a16="http://schemas.microsoft.com/office/drawing/2014/main" id="{C914179A-6F97-4000-8363-F1FD19FA9954}"/>
              </a:ext>
            </a:extLst>
          </p:cNvPr>
          <p:cNvSpPr>
            <a:spLocks noGrp="1"/>
          </p:cNvSpPr>
          <p:nvPr>
            <p:ph type="sldNum" sz="quarter" idx="10"/>
          </p:nvPr>
        </p:nvSpPr>
        <p:spPr/>
        <p:txBody>
          <a:bodyPr/>
          <a:lstStyle/>
          <a:p>
            <a:fld id="{48F63A3B-78C7-47BE-AE5E-E10140E04643}" type="slidenum">
              <a:rPr lang="en-US" smtClean="0"/>
              <a:pPr/>
              <a:t>11</a:t>
            </a:fld>
            <a:endParaRPr lang="en-US" dirty="0"/>
          </a:p>
        </p:txBody>
      </p:sp>
      <p:pic>
        <p:nvPicPr>
          <p:cNvPr id="4" name="Picture 3">
            <a:extLst>
              <a:ext uri="{FF2B5EF4-FFF2-40B4-BE49-F238E27FC236}">
                <a16:creationId xmlns:a16="http://schemas.microsoft.com/office/drawing/2014/main" id="{7824C34A-6E5D-4A97-B0B6-9E4922D87D06}"/>
              </a:ext>
            </a:extLst>
          </p:cNvPr>
          <p:cNvPicPr>
            <a:picLocks noChangeAspect="1"/>
          </p:cNvPicPr>
          <p:nvPr/>
        </p:nvPicPr>
        <p:blipFill>
          <a:blip r:embed="rId3"/>
          <a:stretch>
            <a:fillRect/>
          </a:stretch>
        </p:blipFill>
        <p:spPr>
          <a:xfrm>
            <a:off x="55241" y="1480009"/>
            <a:ext cx="3717695" cy="2974156"/>
          </a:xfrm>
          <a:prstGeom prst="rect">
            <a:avLst/>
          </a:prstGeom>
        </p:spPr>
      </p:pic>
      <p:pic>
        <p:nvPicPr>
          <p:cNvPr id="6" name="Picture 5">
            <a:extLst>
              <a:ext uri="{FF2B5EF4-FFF2-40B4-BE49-F238E27FC236}">
                <a16:creationId xmlns:a16="http://schemas.microsoft.com/office/drawing/2014/main" id="{51E65403-412B-4C99-841A-279657DD3401}"/>
              </a:ext>
            </a:extLst>
          </p:cNvPr>
          <p:cNvPicPr>
            <a:picLocks noChangeAspect="1"/>
          </p:cNvPicPr>
          <p:nvPr/>
        </p:nvPicPr>
        <p:blipFill>
          <a:blip r:embed="rId4"/>
          <a:stretch>
            <a:fillRect/>
          </a:stretch>
        </p:blipFill>
        <p:spPr>
          <a:xfrm>
            <a:off x="4027404" y="989812"/>
            <a:ext cx="3464352" cy="3464352"/>
          </a:xfrm>
          <a:prstGeom prst="rect">
            <a:avLst/>
          </a:prstGeom>
        </p:spPr>
      </p:pic>
      <p:pic>
        <p:nvPicPr>
          <p:cNvPr id="8" name="Picture 7">
            <a:extLst>
              <a:ext uri="{FF2B5EF4-FFF2-40B4-BE49-F238E27FC236}">
                <a16:creationId xmlns:a16="http://schemas.microsoft.com/office/drawing/2014/main" id="{D6E0DF43-689B-4606-B2B3-AB01DE5418B0}"/>
              </a:ext>
            </a:extLst>
          </p:cNvPr>
          <p:cNvPicPr>
            <a:picLocks noChangeAspect="1"/>
          </p:cNvPicPr>
          <p:nvPr/>
        </p:nvPicPr>
        <p:blipFill>
          <a:blip r:embed="rId5"/>
          <a:stretch>
            <a:fillRect/>
          </a:stretch>
        </p:blipFill>
        <p:spPr>
          <a:xfrm>
            <a:off x="8201961" y="1557474"/>
            <a:ext cx="3479422" cy="2609567"/>
          </a:xfrm>
          <a:prstGeom prst="rect">
            <a:avLst/>
          </a:prstGeom>
        </p:spPr>
      </p:pic>
    </p:spTree>
    <p:extLst>
      <p:ext uri="{BB962C8B-B14F-4D97-AF65-F5344CB8AC3E}">
        <p14:creationId xmlns:p14="http://schemas.microsoft.com/office/powerpoint/2010/main" val="2050747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DB2E1BB2-D780-49B3-BC26-8DCA20CEFF1A}"/>
              </a:ext>
            </a:extLst>
          </p:cNvPr>
          <p:cNvSpPr>
            <a:spLocks noGrp="1"/>
          </p:cNvSpPr>
          <p:nvPr>
            <p:ph type="title"/>
          </p:nvPr>
        </p:nvSpPr>
        <p:spPr>
          <a:xfrm>
            <a:off x="477276" y="327999"/>
            <a:ext cx="8826980" cy="524296"/>
          </a:xfrm>
        </p:spPr>
        <p:txBody>
          <a:bodyPr/>
          <a:lstStyle/>
          <a:p>
            <a:r>
              <a:rPr lang="en-IN" sz="3200" b="1" kern="1800" dirty="0">
                <a:effectLst/>
                <a:latin typeface="Times New Roman" panose="02020603050405020304" pitchFamily="18" charset="0"/>
                <a:ea typeface="Times New Roman" panose="02020603050405020304" pitchFamily="18" charset="0"/>
                <a:cs typeface="Times New Roman" panose="02020603050405020304" pitchFamily="18" charset="0"/>
              </a:rPr>
              <a:t>4. (b) DEG Analysis (limma-GSE11419)</a:t>
            </a:r>
            <a:endParaRPr lang="en-IN" sz="5400" dirty="0">
              <a:latin typeface="+mn-lt"/>
            </a:endParaRPr>
          </a:p>
        </p:txBody>
      </p:sp>
      <p:sp>
        <p:nvSpPr>
          <p:cNvPr id="29" name="TextBox 28">
            <a:extLst>
              <a:ext uri="{FF2B5EF4-FFF2-40B4-BE49-F238E27FC236}">
                <a16:creationId xmlns:a16="http://schemas.microsoft.com/office/drawing/2014/main" id="{D5717230-234A-40AE-B50E-A45E2F9CBFB7}"/>
              </a:ext>
            </a:extLst>
          </p:cNvPr>
          <p:cNvSpPr txBox="1"/>
          <p:nvPr/>
        </p:nvSpPr>
        <p:spPr>
          <a:xfrm>
            <a:off x="7052993" y="5209632"/>
            <a:ext cx="2945877" cy="276999"/>
          </a:xfrm>
          <a:prstGeom prst="rect">
            <a:avLst/>
          </a:prstGeom>
          <a:noFill/>
        </p:spPr>
        <p:txBody>
          <a:bodyPr wrap="square">
            <a:spAutoFit/>
          </a:bodyPr>
          <a:lstStyle/>
          <a:p>
            <a:pPr algn="ctr"/>
            <a:r>
              <a:rPr lang="en-IN" sz="1200" b="1" dirty="0"/>
              <a:t>Sample Distance Heatmap</a:t>
            </a:r>
          </a:p>
        </p:txBody>
      </p:sp>
      <p:sp>
        <p:nvSpPr>
          <p:cNvPr id="31" name="TextBox 30">
            <a:extLst>
              <a:ext uri="{FF2B5EF4-FFF2-40B4-BE49-F238E27FC236}">
                <a16:creationId xmlns:a16="http://schemas.microsoft.com/office/drawing/2014/main" id="{AA8DF67D-D61A-4FC5-B926-DDA5FD30FEAC}"/>
              </a:ext>
            </a:extLst>
          </p:cNvPr>
          <p:cNvSpPr txBox="1"/>
          <p:nvPr/>
        </p:nvSpPr>
        <p:spPr>
          <a:xfrm>
            <a:off x="606599" y="5209632"/>
            <a:ext cx="3464351" cy="276999"/>
          </a:xfrm>
          <a:prstGeom prst="rect">
            <a:avLst/>
          </a:prstGeom>
          <a:noFill/>
        </p:spPr>
        <p:txBody>
          <a:bodyPr wrap="square">
            <a:spAutoFit/>
          </a:bodyPr>
          <a:lstStyle/>
          <a:p>
            <a:pPr algn="ctr"/>
            <a:r>
              <a:rPr lang="en-IN" sz="1200" b="1" dirty="0"/>
              <a:t>MDS Plot</a:t>
            </a:r>
            <a:endParaRPr lang="en-IN" sz="1200" dirty="0"/>
          </a:p>
        </p:txBody>
      </p:sp>
      <p:sp>
        <p:nvSpPr>
          <p:cNvPr id="33" name="TextBox 32">
            <a:extLst>
              <a:ext uri="{FF2B5EF4-FFF2-40B4-BE49-F238E27FC236}">
                <a16:creationId xmlns:a16="http://schemas.microsoft.com/office/drawing/2014/main" id="{44BB8578-DA5E-4B93-BCCC-0CE2D51B2428}"/>
              </a:ext>
            </a:extLst>
          </p:cNvPr>
          <p:cNvSpPr txBox="1"/>
          <p:nvPr/>
        </p:nvSpPr>
        <p:spPr>
          <a:xfrm>
            <a:off x="477276" y="5780782"/>
            <a:ext cx="11555692" cy="1077218"/>
          </a:xfrm>
          <a:prstGeom prst="rect">
            <a:avLst/>
          </a:prstGeom>
          <a:noFill/>
        </p:spPr>
        <p:txBody>
          <a:bodyPr wrap="square">
            <a:spAutoFit/>
          </a:bodyPr>
          <a:lstStyle/>
          <a:p>
            <a:r>
              <a:rPr lang="en-IN" sz="1600" b="1" dirty="0"/>
              <a:t>Key QC Findings:</a:t>
            </a:r>
          </a:p>
          <a:p>
            <a:pPr marL="342900" indent="-342900">
              <a:buFont typeface="+mj-lt"/>
              <a:buAutoNum type="arabicPeriod"/>
            </a:pPr>
            <a:r>
              <a:rPr lang="en-US" sz="1600" dirty="0"/>
              <a:t>MDS and distance heatmap for GSE114419 show all samples clustering as a single homogeneous control group with no biological separation, confirming that this dataset cannot be used for PCOS differential expression.</a:t>
            </a:r>
          </a:p>
          <a:p>
            <a:endParaRPr lang="en-US" sz="1600" dirty="0"/>
          </a:p>
        </p:txBody>
      </p:sp>
      <p:sp>
        <p:nvSpPr>
          <p:cNvPr id="2" name="Slide Number Placeholder 1">
            <a:extLst>
              <a:ext uri="{FF2B5EF4-FFF2-40B4-BE49-F238E27FC236}">
                <a16:creationId xmlns:a16="http://schemas.microsoft.com/office/drawing/2014/main" id="{C914179A-6F97-4000-8363-F1FD19FA9954}"/>
              </a:ext>
            </a:extLst>
          </p:cNvPr>
          <p:cNvSpPr>
            <a:spLocks noGrp="1"/>
          </p:cNvSpPr>
          <p:nvPr>
            <p:ph type="sldNum" sz="quarter" idx="10"/>
          </p:nvPr>
        </p:nvSpPr>
        <p:spPr/>
        <p:txBody>
          <a:bodyPr/>
          <a:lstStyle/>
          <a:p>
            <a:fld id="{48F63A3B-78C7-47BE-AE5E-E10140E04643}" type="slidenum">
              <a:rPr lang="en-US" smtClean="0"/>
              <a:pPr/>
              <a:t>12</a:t>
            </a:fld>
            <a:endParaRPr lang="en-US" dirty="0"/>
          </a:p>
        </p:txBody>
      </p:sp>
      <p:pic>
        <p:nvPicPr>
          <p:cNvPr id="5" name="Picture 4">
            <a:extLst>
              <a:ext uri="{FF2B5EF4-FFF2-40B4-BE49-F238E27FC236}">
                <a16:creationId xmlns:a16="http://schemas.microsoft.com/office/drawing/2014/main" id="{72480997-C537-4134-AC1A-B68F70135009}"/>
              </a:ext>
            </a:extLst>
          </p:cNvPr>
          <p:cNvPicPr>
            <a:picLocks noChangeAspect="1"/>
          </p:cNvPicPr>
          <p:nvPr/>
        </p:nvPicPr>
        <p:blipFill>
          <a:blip r:embed="rId3"/>
          <a:stretch>
            <a:fillRect/>
          </a:stretch>
        </p:blipFill>
        <p:spPr>
          <a:xfrm>
            <a:off x="317306" y="964168"/>
            <a:ext cx="5027148" cy="4021718"/>
          </a:xfrm>
          <a:prstGeom prst="rect">
            <a:avLst/>
          </a:prstGeom>
        </p:spPr>
      </p:pic>
      <p:pic>
        <p:nvPicPr>
          <p:cNvPr id="9" name="Picture 8">
            <a:extLst>
              <a:ext uri="{FF2B5EF4-FFF2-40B4-BE49-F238E27FC236}">
                <a16:creationId xmlns:a16="http://schemas.microsoft.com/office/drawing/2014/main" id="{8CA8406F-7587-4A37-9AB4-1148E13C10E1}"/>
              </a:ext>
            </a:extLst>
          </p:cNvPr>
          <p:cNvPicPr>
            <a:picLocks noChangeAspect="1"/>
          </p:cNvPicPr>
          <p:nvPr/>
        </p:nvPicPr>
        <p:blipFill>
          <a:blip r:embed="rId4"/>
          <a:stretch>
            <a:fillRect/>
          </a:stretch>
        </p:blipFill>
        <p:spPr>
          <a:xfrm>
            <a:off x="6436495" y="939344"/>
            <a:ext cx="4207105" cy="4207105"/>
          </a:xfrm>
          <a:prstGeom prst="rect">
            <a:avLst/>
          </a:prstGeom>
        </p:spPr>
      </p:pic>
    </p:spTree>
    <p:extLst>
      <p:ext uri="{BB962C8B-B14F-4D97-AF65-F5344CB8AC3E}">
        <p14:creationId xmlns:p14="http://schemas.microsoft.com/office/powerpoint/2010/main" val="7049808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DB2E1BB2-D780-49B3-BC26-8DCA20CEFF1A}"/>
              </a:ext>
            </a:extLst>
          </p:cNvPr>
          <p:cNvSpPr>
            <a:spLocks noGrp="1"/>
          </p:cNvSpPr>
          <p:nvPr>
            <p:ph type="title"/>
          </p:nvPr>
        </p:nvSpPr>
        <p:spPr>
          <a:xfrm>
            <a:off x="258458" y="370248"/>
            <a:ext cx="8546177" cy="524296"/>
          </a:xfrm>
        </p:spPr>
        <p:txBody>
          <a:bodyPr/>
          <a:lstStyle/>
          <a:p>
            <a:r>
              <a:rPr lang="en-IN" sz="3200" b="1" kern="1800" dirty="0">
                <a:effectLst/>
                <a:latin typeface="Times New Roman" panose="02020603050405020304" pitchFamily="18" charset="0"/>
                <a:ea typeface="Times New Roman" panose="02020603050405020304" pitchFamily="18" charset="0"/>
                <a:cs typeface="Times New Roman" panose="02020603050405020304" pitchFamily="18" charset="0"/>
              </a:rPr>
              <a:t>4. (c) DEG Analysis (limma-GSE137684)</a:t>
            </a:r>
            <a:endParaRPr lang="en-IN" sz="5400" dirty="0">
              <a:latin typeface="+mn-lt"/>
            </a:endParaRPr>
          </a:p>
        </p:txBody>
      </p:sp>
      <p:sp>
        <p:nvSpPr>
          <p:cNvPr id="27" name="TextBox 26">
            <a:extLst>
              <a:ext uri="{FF2B5EF4-FFF2-40B4-BE49-F238E27FC236}">
                <a16:creationId xmlns:a16="http://schemas.microsoft.com/office/drawing/2014/main" id="{D83D68B5-8392-4120-9EF5-75A62F6E03D6}"/>
              </a:ext>
            </a:extLst>
          </p:cNvPr>
          <p:cNvSpPr txBox="1"/>
          <p:nvPr/>
        </p:nvSpPr>
        <p:spPr>
          <a:xfrm>
            <a:off x="8474305" y="4269623"/>
            <a:ext cx="3322949" cy="276999"/>
          </a:xfrm>
          <a:prstGeom prst="rect">
            <a:avLst/>
          </a:prstGeom>
          <a:noFill/>
        </p:spPr>
        <p:txBody>
          <a:bodyPr wrap="square">
            <a:spAutoFit/>
          </a:bodyPr>
          <a:lstStyle/>
          <a:p>
            <a:pPr algn="ctr"/>
            <a:r>
              <a:rPr lang="en-IN" sz="1200" b="1" dirty="0"/>
              <a:t>Volcano plot </a:t>
            </a:r>
          </a:p>
        </p:txBody>
      </p:sp>
      <p:sp>
        <p:nvSpPr>
          <p:cNvPr id="29" name="TextBox 28">
            <a:extLst>
              <a:ext uri="{FF2B5EF4-FFF2-40B4-BE49-F238E27FC236}">
                <a16:creationId xmlns:a16="http://schemas.microsoft.com/office/drawing/2014/main" id="{D5717230-234A-40AE-B50E-A45E2F9CBFB7}"/>
              </a:ext>
            </a:extLst>
          </p:cNvPr>
          <p:cNvSpPr txBox="1"/>
          <p:nvPr/>
        </p:nvSpPr>
        <p:spPr>
          <a:xfrm>
            <a:off x="4415671" y="4571425"/>
            <a:ext cx="2945877" cy="276999"/>
          </a:xfrm>
          <a:prstGeom prst="rect">
            <a:avLst/>
          </a:prstGeom>
          <a:noFill/>
        </p:spPr>
        <p:txBody>
          <a:bodyPr wrap="square">
            <a:spAutoFit/>
          </a:bodyPr>
          <a:lstStyle/>
          <a:p>
            <a:pPr algn="ctr"/>
            <a:r>
              <a:rPr lang="en-IN" sz="1200" b="1" dirty="0"/>
              <a:t>Sample Distance Heatmap</a:t>
            </a:r>
          </a:p>
        </p:txBody>
      </p:sp>
      <p:sp>
        <p:nvSpPr>
          <p:cNvPr id="31" name="TextBox 30">
            <a:extLst>
              <a:ext uri="{FF2B5EF4-FFF2-40B4-BE49-F238E27FC236}">
                <a16:creationId xmlns:a16="http://schemas.microsoft.com/office/drawing/2014/main" id="{AA8DF67D-D61A-4FC5-B926-DDA5FD30FEAC}"/>
              </a:ext>
            </a:extLst>
          </p:cNvPr>
          <p:cNvSpPr txBox="1"/>
          <p:nvPr/>
        </p:nvSpPr>
        <p:spPr>
          <a:xfrm>
            <a:off x="178912" y="4571425"/>
            <a:ext cx="3464351" cy="276999"/>
          </a:xfrm>
          <a:prstGeom prst="rect">
            <a:avLst/>
          </a:prstGeom>
          <a:noFill/>
        </p:spPr>
        <p:txBody>
          <a:bodyPr wrap="square">
            <a:spAutoFit/>
          </a:bodyPr>
          <a:lstStyle/>
          <a:p>
            <a:pPr algn="ctr"/>
            <a:r>
              <a:rPr lang="en-IN" sz="1200" b="1" dirty="0"/>
              <a:t>MDS Plot</a:t>
            </a:r>
            <a:endParaRPr lang="en-IN" sz="1200" dirty="0"/>
          </a:p>
        </p:txBody>
      </p:sp>
      <p:sp>
        <p:nvSpPr>
          <p:cNvPr id="33" name="TextBox 32">
            <a:extLst>
              <a:ext uri="{FF2B5EF4-FFF2-40B4-BE49-F238E27FC236}">
                <a16:creationId xmlns:a16="http://schemas.microsoft.com/office/drawing/2014/main" id="{44BB8578-DA5E-4B93-BCCC-0CE2D51B2428}"/>
              </a:ext>
            </a:extLst>
          </p:cNvPr>
          <p:cNvSpPr txBox="1"/>
          <p:nvPr/>
        </p:nvSpPr>
        <p:spPr>
          <a:xfrm>
            <a:off x="178912" y="5067132"/>
            <a:ext cx="11814185" cy="2169825"/>
          </a:xfrm>
          <a:prstGeom prst="rect">
            <a:avLst/>
          </a:prstGeom>
          <a:noFill/>
        </p:spPr>
        <p:txBody>
          <a:bodyPr wrap="square">
            <a:spAutoFit/>
          </a:bodyPr>
          <a:lstStyle/>
          <a:p>
            <a:pPr algn="just"/>
            <a:r>
              <a:rPr lang="en-IN" sz="1500" b="1" dirty="0"/>
              <a:t>Key QC Findings:</a:t>
            </a:r>
          </a:p>
          <a:p>
            <a:pPr marL="342900" indent="-342900" algn="just">
              <a:buFont typeface="+mj-lt"/>
              <a:buAutoNum type="arabicPeriod"/>
            </a:pPr>
            <a:r>
              <a:rPr lang="en-US" sz="1500" b="1" dirty="0"/>
              <a:t>MDS plot shows internal variability with clear outliers (e.g., GSM4084721),</a:t>
            </a:r>
            <a:r>
              <a:rPr lang="en-US" sz="1500" dirty="0"/>
              <a:t> but no PCOS–control separation can be identified.</a:t>
            </a:r>
          </a:p>
          <a:p>
            <a:pPr marL="342900" indent="-342900" algn="just">
              <a:buFont typeface="+mj-lt"/>
              <a:buAutoNum type="arabicPeriod"/>
            </a:pPr>
            <a:r>
              <a:rPr lang="en-US" sz="1500" b="1" dirty="0"/>
              <a:t>Sample distance heatmap confirms consistent clustering except for one outlier,</a:t>
            </a:r>
            <a:r>
              <a:rPr lang="en-US" sz="1500" dirty="0"/>
              <a:t> indicating technical variation rather than biological grouping.</a:t>
            </a:r>
          </a:p>
          <a:p>
            <a:pPr marL="342900" indent="-342900" algn="just">
              <a:buFont typeface="+mj-lt"/>
              <a:buAutoNum type="arabicPeriod"/>
            </a:pPr>
            <a:r>
              <a:rPr lang="en-US" sz="1500" b="1" dirty="0"/>
              <a:t>Volcano plot reflects artificial variation</a:t>
            </a:r>
            <a:r>
              <a:rPr lang="en-US" sz="1500" dirty="0"/>
              <a:t> since no disease labels exist, making the contrast biologically meaningless. </a:t>
            </a:r>
            <a:r>
              <a:rPr lang="en-US" sz="1500" b="1" dirty="0"/>
              <a:t>Dataset lacks PCOS/control annotations</a:t>
            </a:r>
            <a:r>
              <a:rPr lang="en-US" sz="1500" dirty="0"/>
              <a:t>, preventing construction of a valid design matrix for differential expression. </a:t>
            </a:r>
            <a:r>
              <a:rPr lang="en-US" sz="1500" b="1" dirty="0"/>
              <a:t>Therefore, GSE137684 was excluded</a:t>
            </a:r>
            <a:r>
              <a:rPr lang="en-US" sz="1500" dirty="0"/>
              <a:t> from DEG analysis to maintain statistical and biological validity.</a:t>
            </a:r>
          </a:p>
          <a:p>
            <a:pPr algn="just"/>
            <a:endParaRPr lang="en-IN" sz="1500" b="1" dirty="0"/>
          </a:p>
          <a:p>
            <a:pPr algn="just"/>
            <a:endParaRPr lang="en-US" sz="1500" dirty="0"/>
          </a:p>
        </p:txBody>
      </p:sp>
      <p:sp>
        <p:nvSpPr>
          <p:cNvPr id="2" name="Slide Number Placeholder 1">
            <a:extLst>
              <a:ext uri="{FF2B5EF4-FFF2-40B4-BE49-F238E27FC236}">
                <a16:creationId xmlns:a16="http://schemas.microsoft.com/office/drawing/2014/main" id="{C914179A-6F97-4000-8363-F1FD19FA9954}"/>
              </a:ext>
            </a:extLst>
          </p:cNvPr>
          <p:cNvSpPr>
            <a:spLocks noGrp="1"/>
          </p:cNvSpPr>
          <p:nvPr>
            <p:ph type="sldNum" sz="quarter" idx="10"/>
          </p:nvPr>
        </p:nvSpPr>
        <p:spPr/>
        <p:txBody>
          <a:bodyPr/>
          <a:lstStyle/>
          <a:p>
            <a:fld id="{48F63A3B-78C7-47BE-AE5E-E10140E04643}" type="slidenum">
              <a:rPr lang="en-US" smtClean="0"/>
              <a:pPr/>
              <a:t>13</a:t>
            </a:fld>
            <a:endParaRPr lang="en-US" dirty="0"/>
          </a:p>
        </p:txBody>
      </p:sp>
      <p:pic>
        <p:nvPicPr>
          <p:cNvPr id="5" name="Picture 4">
            <a:extLst>
              <a:ext uri="{FF2B5EF4-FFF2-40B4-BE49-F238E27FC236}">
                <a16:creationId xmlns:a16="http://schemas.microsoft.com/office/drawing/2014/main" id="{220DD64A-0278-40E9-9537-17A7E79E5B82}"/>
              </a:ext>
            </a:extLst>
          </p:cNvPr>
          <p:cNvPicPr>
            <a:picLocks noChangeAspect="1"/>
          </p:cNvPicPr>
          <p:nvPr/>
        </p:nvPicPr>
        <p:blipFill>
          <a:blip r:embed="rId3"/>
          <a:stretch>
            <a:fillRect/>
          </a:stretch>
        </p:blipFill>
        <p:spPr>
          <a:xfrm>
            <a:off x="58494" y="1557474"/>
            <a:ext cx="3686275" cy="2949020"/>
          </a:xfrm>
          <a:prstGeom prst="rect">
            <a:avLst/>
          </a:prstGeom>
        </p:spPr>
      </p:pic>
      <p:pic>
        <p:nvPicPr>
          <p:cNvPr id="9" name="Picture 8">
            <a:extLst>
              <a:ext uri="{FF2B5EF4-FFF2-40B4-BE49-F238E27FC236}">
                <a16:creationId xmlns:a16="http://schemas.microsoft.com/office/drawing/2014/main" id="{6E295AC6-F79F-46DB-9C73-EF679BE68C41}"/>
              </a:ext>
            </a:extLst>
          </p:cNvPr>
          <p:cNvPicPr>
            <a:picLocks noChangeAspect="1"/>
          </p:cNvPicPr>
          <p:nvPr/>
        </p:nvPicPr>
        <p:blipFill>
          <a:blip r:embed="rId4"/>
          <a:stretch>
            <a:fillRect/>
          </a:stretch>
        </p:blipFill>
        <p:spPr>
          <a:xfrm>
            <a:off x="4241189" y="947590"/>
            <a:ext cx="3464351" cy="3464351"/>
          </a:xfrm>
          <a:prstGeom prst="rect">
            <a:avLst/>
          </a:prstGeom>
        </p:spPr>
      </p:pic>
      <p:pic>
        <p:nvPicPr>
          <p:cNvPr id="11" name="Picture 10">
            <a:extLst>
              <a:ext uri="{FF2B5EF4-FFF2-40B4-BE49-F238E27FC236}">
                <a16:creationId xmlns:a16="http://schemas.microsoft.com/office/drawing/2014/main" id="{29225513-543C-4473-B9C9-27834B566785}"/>
              </a:ext>
            </a:extLst>
          </p:cNvPr>
          <p:cNvPicPr>
            <a:picLocks noChangeAspect="1"/>
          </p:cNvPicPr>
          <p:nvPr/>
        </p:nvPicPr>
        <p:blipFill>
          <a:blip r:embed="rId5"/>
          <a:stretch>
            <a:fillRect/>
          </a:stretch>
        </p:blipFill>
        <p:spPr>
          <a:xfrm>
            <a:off x="8122972" y="1416947"/>
            <a:ext cx="3803568" cy="2852676"/>
          </a:xfrm>
          <a:prstGeom prst="rect">
            <a:avLst/>
          </a:prstGeom>
        </p:spPr>
      </p:pic>
    </p:spTree>
    <p:extLst>
      <p:ext uri="{BB962C8B-B14F-4D97-AF65-F5344CB8AC3E}">
        <p14:creationId xmlns:p14="http://schemas.microsoft.com/office/powerpoint/2010/main" val="2649814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0F6CA620-8E92-4731-8EE5-5A425FDD9D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4311" y="970613"/>
            <a:ext cx="10157527" cy="1762961"/>
          </a:xfrm>
          <a:prstGeom prst="rect">
            <a:avLst/>
          </a:prstGeom>
        </p:spPr>
      </p:pic>
      <p:pic>
        <p:nvPicPr>
          <p:cNvPr id="15" name="Picture 14">
            <a:extLst>
              <a:ext uri="{FF2B5EF4-FFF2-40B4-BE49-F238E27FC236}">
                <a16:creationId xmlns:a16="http://schemas.microsoft.com/office/drawing/2014/main" id="{DCB1A6C7-35A0-4E3B-A9E9-004D37C65CE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1808" y="2915470"/>
            <a:ext cx="4875481" cy="3640724"/>
          </a:xfrm>
          <a:prstGeom prst="rect">
            <a:avLst/>
          </a:prstGeom>
        </p:spPr>
      </p:pic>
      <p:sp>
        <p:nvSpPr>
          <p:cNvPr id="16" name="TextBox 15">
            <a:extLst>
              <a:ext uri="{FF2B5EF4-FFF2-40B4-BE49-F238E27FC236}">
                <a16:creationId xmlns:a16="http://schemas.microsoft.com/office/drawing/2014/main" id="{824E4123-3C30-4DB3-97E7-9A6158D92BB8}"/>
              </a:ext>
            </a:extLst>
          </p:cNvPr>
          <p:cNvSpPr txBox="1"/>
          <p:nvPr/>
        </p:nvSpPr>
        <p:spPr>
          <a:xfrm>
            <a:off x="6214713" y="3269725"/>
            <a:ext cx="5444691" cy="2932213"/>
          </a:xfrm>
          <a:prstGeom prst="rect">
            <a:avLst/>
          </a:prstGeom>
          <a:noFill/>
        </p:spPr>
        <p:txBody>
          <a:bodyPr wrap="square">
            <a:spAutoFit/>
          </a:bodyPr>
          <a:lstStyle/>
          <a:p>
            <a:pPr algn="just">
              <a:lnSpc>
                <a:spcPct val="115000"/>
              </a:lnSpc>
            </a:pPr>
            <a:r>
              <a:rPr lang="en-IN" sz="1800" b="1" dirty="0">
                <a:effectLst/>
                <a:latin typeface="Cambria" panose="02040503050406030204" pitchFamily="18" charset="0"/>
                <a:ea typeface="Arial" panose="020B0604020202020204" pitchFamily="34" charset="0"/>
                <a:cs typeface="Calibri" panose="020F0502020204030204" pitchFamily="34" charset="0"/>
              </a:rPr>
              <a:t>Differentially expressed gene (DEG) counts across datasets under strict and relaxed thresholds. </a:t>
            </a:r>
            <a:r>
              <a:rPr lang="en-IN" sz="1800" dirty="0">
                <a:effectLst/>
                <a:latin typeface="Cambria" panose="02040503050406030204" pitchFamily="18" charset="0"/>
                <a:ea typeface="Arial" panose="020B0604020202020204" pitchFamily="34" charset="0"/>
                <a:cs typeface="Calibri" panose="020F0502020204030204" pitchFamily="34" charset="0"/>
              </a:rPr>
              <a:t>Strict threshold (FDR &lt; 0.05, |log2FC| ≥ 1) produced DEGs only in GSE277906, while relaxed threshold (p &lt; 0.05, |log2FC| ≥ 0.5) yielded 451 DEGs in GSE98421, 1232 in GSE137684, and 811 in GSE277906. This demonstrates dataset-dependent sensitivity and highlights the effect of sample size on DEG detection.</a:t>
            </a:r>
            <a:endParaRPr lang="en-IN" sz="18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2498021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DB2E1BB2-D780-49B3-BC26-8DCA20CEFF1A}"/>
              </a:ext>
            </a:extLst>
          </p:cNvPr>
          <p:cNvSpPr>
            <a:spLocks noGrp="1"/>
          </p:cNvSpPr>
          <p:nvPr>
            <p:ph type="title"/>
          </p:nvPr>
        </p:nvSpPr>
        <p:spPr>
          <a:xfrm>
            <a:off x="265253" y="338969"/>
            <a:ext cx="7965461" cy="524296"/>
          </a:xfrm>
        </p:spPr>
        <p:txBody>
          <a:bodyPr/>
          <a:lstStyle/>
          <a:p>
            <a:r>
              <a:rPr lang="en-IN" sz="3200" b="1" kern="1800" dirty="0">
                <a:effectLst/>
                <a:latin typeface="Times New Roman" panose="02020603050405020304" pitchFamily="18" charset="0"/>
                <a:ea typeface="Times New Roman" panose="02020603050405020304" pitchFamily="18" charset="0"/>
                <a:cs typeface="Times New Roman" panose="02020603050405020304" pitchFamily="18" charset="0"/>
              </a:rPr>
              <a:t>5. DEG Analysis (RNA SeQ-GSE137684)</a:t>
            </a:r>
            <a:endParaRPr lang="en-IN" sz="5400" dirty="0">
              <a:latin typeface="+mn-lt"/>
            </a:endParaRPr>
          </a:p>
        </p:txBody>
      </p:sp>
      <p:sp>
        <p:nvSpPr>
          <p:cNvPr id="27" name="TextBox 26">
            <a:extLst>
              <a:ext uri="{FF2B5EF4-FFF2-40B4-BE49-F238E27FC236}">
                <a16:creationId xmlns:a16="http://schemas.microsoft.com/office/drawing/2014/main" id="{D83D68B5-8392-4120-9EF5-75A62F6E03D6}"/>
              </a:ext>
            </a:extLst>
          </p:cNvPr>
          <p:cNvSpPr txBox="1"/>
          <p:nvPr/>
        </p:nvSpPr>
        <p:spPr>
          <a:xfrm>
            <a:off x="8474305" y="4596702"/>
            <a:ext cx="3322949" cy="276999"/>
          </a:xfrm>
          <a:prstGeom prst="rect">
            <a:avLst/>
          </a:prstGeom>
          <a:noFill/>
        </p:spPr>
        <p:txBody>
          <a:bodyPr wrap="square">
            <a:spAutoFit/>
          </a:bodyPr>
          <a:lstStyle/>
          <a:p>
            <a:pPr algn="ctr"/>
            <a:r>
              <a:rPr lang="en-IN" sz="1200" b="1" dirty="0"/>
              <a:t>Volcano plot </a:t>
            </a:r>
          </a:p>
        </p:txBody>
      </p:sp>
      <p:sp>
        <p:nvSpPr>
          <p:cNvPr id="29" name="TextBox 28">
            <a:extLst>
              <a:ext uri="{FF2B5EF4-FFF2-40B4-BE49-F238E27FC236}">
                <a16:creationId xmlns:a16="http://schemas.microsoft.com/office/drawing/2014/main" id="{D5717230-234A-40AE-B50E-A45E2F9CBFB7}"/>
              </a:ext>
            </a:extLst>
          </p:cNvPr>
          <p:cNvSpPr txBox="1"/>
          <p:nvPr/>
        </p:nvSpPr>
        <p:spPr>
          <a:xfrm>
            <a:off x="4415671" y="4571425"/>
            <a:ext cx="2945877" cy="276999"/>
          </a:xfrm>
          <a:prstGeom prst="rect">
            <a:avLst/>
          </a:prstGeom>
          <a:noFill/>
        </p:spPr>
        <p:txBody>
          <a:bodyPr wrap="square">
            <a:spAutoFit/>
          </a:bodyPr>
          <a:lstStyle/>
          <a:p>
            <a:pPr algn="ctr"/>
            <a:r>
              <a:rPr lang="en-IN" sz="1200" b="1" dirty="0"/>
              <a:t>Sample Distance Heatmap</a:t>
            </a:r>
          </a:p>
        </p:txBody>
      </p:sp>
      <p:sp>
        <p:nvSpPr>
          <p:cNvPr id="31" name="TextBox 30">
            <a:extLst>
              <a:ext uri="{FF2B5EF4-FFF2-40B4-BE49-F238E27FC236}">
                <a16:creationId xmlns:a16="http://schemas.microsoft.com/office/drawing/2014/main" id="{AA8DF67D-D61A-4FC5-B926-DDA5FD30FEAC}"/>
              </a:ext>
            </a:extLst>
          </p:cNvPr>
          <p:cNvSpPr txBox="1"/>
          <p:nvPr/>
        </p:nvSpPr>
        <p:spPr>
          <a:xfrm>
            <a:off x="178912" y="4571425"/>
            <a:ext cx="3464351" cy="276999"/>
          </a:xfrm>
          <a:prstGeom prst="rect">
            <a:avLst/>
          </a:prstGeom>
          <a:noFill/>
        </p:spPr>
        <p:txBody>
          <a:bodyPr wrap="square">
            <a:spAutoFit/>
          </a:bodyPr>
          <a:lstStyle/>
          <a:p>
            <a:pPr algn="ctr"/>
            <a:r>
              <a:rPr lang="en-IN" sz="1200" b="1" dirty="0"/>
              <a:t>PCA on VST Plot</a:t>
            </a:r>
            <a:endParaRPr lang="en-IN" sz="1200" dirty="0"/>
          </a:p>
        </p:txBody>
      </p:sp>
      <p:sp>
        <p:nvSpPr>
          <p:cNvPr id="33" name="TextBox 32">
            <a:extLst>
              <a:ext uri="{FF2B5EF4-FFF2-40B4-BE49-F238E27FC236}">
                <a16:creationId xmlns:a16="http://schemas.microsoft.com/office/drawing/2014/main" id="{44BB8578-DA5E-4B93-BCCC-0CE2D51B2428}"/>
              </a:ext>
            </a:extLst>
          </p:cNvPr>
          <p:cNvSpPr txBox="1"/>
          <p:nvPr/>
        </p:nvSpPr>
        <p:spPr>
          <a:xfrm>
            <a:off x="178912" y="5067132"/>
            <a:ext cx="11814185" cy="1938992"/>
          </a:xfrm>
          <a:prstGeom prst="rect">
            <a:avLst/>
          </a:prstGeom>
          <a:noFill/>
        </p:spPr>
        <p:txBody>
          <a:bodyPr wrap="square">
            <a:spAutoFit/>
          </a:bodyPr>
          <a:lstStyle/>
          <a:p>
            <a:pPr algn="just"/>
            <a:r>
              <a:rPr lang="en-IN" sz="1500" b="1" dirty="0"/>
              <a:t>Key QC Findings:</a:t>
            </a:r>
          </a:p>
          <a:p>
            <a:pPr marL="342900" indent="-342900" algn="just">
              <a:buFont typeface="+mj-lt"/>
              <a:buAutoNum type="arabicPeriod"/>
            </a:pPr>
            <a:r>
              <a:rPr lang="en-US" sz="1500" dirty="0"/>
              <a:t>Volcano plot reveals a clear imbalance in transcriptional changes, with many genes strongly downregulated in PCOS compared to controls.</a:t>
            </a:r>
          </a:p>
          <a:p>
            <a:pPr marL="342900" indent="-342900" algn="just">
              <a:buFont typeface="+mj-lt"/>
              <a:buAutoNum type="arabicPeriod"/>
            </a:pPr>
            <a:r>
              <a:rPr lang="en-US" sz="1500" dirty="0"/>
              <a:t>Under relaxed criteria (~0.5 log2FC, p &lt; 0.05), ~800 DEGs were detected, reflecting broad gene expression shifts in ovarian cells.</a:t>
            </a:r>
          </a:p>
          <a:p>
            <a:pPr marL="342900" indent="-342900" algn="just">
              <a:buFont typeface="+mj-lt"/>
              <a:buAutoNum type="arabicPeriod"/>
            </a:pPr>
            <a:r>
              <a:rPr lang="en-US" sz="1500" dirty="0"/>
              <a:t>Under strict thresholds (|log2FC| ≥ 1, FDR &lt; 0.05), only a small subset of high-confidence DEGs remained, indicating conservative filtering and strong biological variability.</a:t>
            </a:r>
          </a:p>
          <a:p>
            <a:pPr marL="342900" indent="-342900" algn="just">
              <a:buFont typeface="+mj-lt"/>
              <a:buAutoNum type="arabicPeriod"/>
            </a:pPr>
            <a:r>
              <a:rPr lang="en-US" sz="1500" dirty="0"/>
              <a:t>Overall, RNA-seq data demonstrate robust differential expression, dominated by downregulated transcripts in PCOS ovarian tissue..</a:t>
            </a:r>
          </a:p>
          <a:p>
            <a:pPr algn="just"/>
            <a:endParaRPr lang="en-IN" sz="1500" dirty="0"/>
          </a:p>
          <a:p>
            <a:pPr algn="just"/>
            <a:endParaRPr lang="en-US" sz="1500" dirty="0"/>
          </a:p>
        </p:txBody>
      </p:sp>
      <p:sp>
        <p:nvSpPr>
          <p:cNvPr id="2" name="Slide Number Placeholder 1">
            <a:extLst>
              <a:ext uri="{FF2B5EF4-FFF2-40B4-BE49-F238E27FC236}">
                <a16:creationId xmlns:a16="http://schemas.microsoft.com/office/drawing/2014/main" id="{C914179A-6F97-4000-8363-F1FD19FA9954}"/>
              </a:ext>
            </a:extLst>
          </p:cNvPr>
          <p:cNvSpPr>
            <a:spLocks noGrp="1"/>
          </p:cNvSpPr>
          <p:nvPr>
            <p:ph type="sldNum" sz="quarter" idx="10"/>
          </p:nvPr>
        </p:nvSpPr>
        <p:spPr/>
        <p:txBody>
          <a:bodyPr/>
          <a:lstStyle/>
          <a:p>
            <a:fld id="{48F63A3B-78C7-47BE-AE5E-E10140E04643}" type="slidenum">
              <a:rPr lang="en-US" smtClean="0"/>
              <a:pPr/>
              <a:t>15</a:t>
            </a:fld>
            <a:endParaRPr lang="en-US" dirty="0"/>
          </a:p>
        </p:txBody>
      </p:sp>
      <p:pic>
        <p:nvPicPr>
          <p:cNvPr id="4" name="Picture 3">
            <a:extLst>
              <a:ext uri="{FF2B5EF4-FFF2-40B4-BE49-F238E27FC236}">
                <a16:creationId xmlns:a16="http://schemas.microsoft.com/office/drawing/2014/main" id="{80DD7F48-1EC3-418C-A2DA-7ED53BA1D47C}"/>
              </a:ext>
            </a:extLst>
          </p:cNvPr>
          <p:cNvPicPr>
            <a:picLocks noChangeAspect="1"/>
          </p:cNvPicPr>
          <p:nvPr/>
        </p:nvPicPr>
        <p:blipFill>
          <a:blip r:embed="rId3"/>
          <a:stretch>
            <a:fillRect/>
          </a:stretch>
        </p:blipFill>
        <p:spPr>
          <a:xfrm>
            <a:off x="178912" y="1225906"/>
            <a:ext cx="3752173" cy="3126811"/>
          </a:xfrm>
          <a:prstGeom prst="rect">
            <a:avLst/>
          </a:prstGeom>
        </p:spPr>
      </p:pic>
      <p:pic>
        <p:nvPicPr>
          <p:cNvPr id="7" name="Picture 6">
            <a:extLst>
              <a:ext uri="{FF2B5EF4-FFF2-40B4-BE49-F238E27FC236}">
                <a16:creationId xmlns:a16="http://schemas.microsoft.com/office/drawing/2014/main" id="{4A7357E7-A024-49C8-A7D4-8FFA0DCF5A70}"/>
              </a:ext>
            </a:extLst>
          </p:cNvPr>
          <p:cNvPicPr>
            <a:picLocks noChangeAspect="1"/>
          </p:cNvPicPr>
          <p:nvPr/>
        </p:nvPicPr>
        <p:blipFill>
          <a:blip r:embed="rId4"/>
          <a:stretch>
            <a:fillRect/>
          </a:stretch>
        </p:blipFill>
        <p:spPr>
          <a:xfrm>
            <a:off x="4247984" y="1132351"/>
            <a:ext cx="3464351" cy="3464351"/>
          </a:xfrm>
          <a:prstGeom prst="rect">
            <a:avLst/>
          </a:prstGeom>
        </p:spPr>
      </p:pic>
      <p:pic>
        <p:nvPicPr>
          <p:cNvPr id="10" name="Picture 9">
            <a:extLst>
              <a:ext uri="{FF2B5EF4-FFF2-40B4-BE49-F238E27FC236}">
                <a16:creationId xmlns:a16="http://schemas.microsoft.com/office/drawing/2014/main" id="{24A9DD5B-E1BC-4FC4-972E-193DE332A713}"/>
              </a:ext>
            </a:extLst>
          </p:cNvPr>
          <p:cNvPicPr>
            <a:picLocks noChangeAspect="1"/>
          </p:cNvPicPr>
          <p:nvPr/>
        </p:nvPicPr>
        <p:blipFill>
          <a:blip r:embed="rId5"/>
          <a:stretch>
            <a:fillRect/>
          </a:stretch>
        </p:blipFill>
        <p:spPr>
          <a:xfrm>
            <a:off x="7913161" y="1222128"/>
            <a:ext cx="3781534" cy="3241315"/>
          </a:xfrm>
          <a:prstGeom prst="rect">
            <a:avLst/>
          </a:prstGeom>
        </p:spPr>
      </p:pic>
    </p:spTree>
    <p:extLst>
      <p:ext uri="{BB962C8B-B14F-4D97-AF65-F5344CB8AC3E}">
        <p14:creationId xmlns:p14="http://schemas.microsoft.com/office/powerpoint/2010/main" val="3089008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C21286A-7B29-3B58-1636-0F45723890A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16</a:t>
            </a:fld>
            <a:endParaRPr lang="en-US" dirty="0"/>
          </a:p>
        </p:txBody>
      </p:sp>
      <p:pic>
        <p:nvPicPr>
          <p:cNvPr id="9" name="Picture 8">
            <a:extLst>
              <a:ext uri="{FF2B5EF4-FFF2-40B4-BE49-F238E27FC236}">
                <a16:creationId xmlns:a16="http://schemas.microsoft.com/office/drawing/2014/main" id="{DD186A17-99BD-4FB6-B091-C1EAC1039E3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1112" y="1612466"/>
            <a:ext cx="3785136" cy="3785136"/>
          </a:xfrm>
          <a:prstGeom prst="rect">
            <a:avLst/>
          </a:prstGeom>
          <a:noFill/>
          <a:ln>
            <a:solidFill>
              <a:schemeClr val="bg1"/>
            </a:solidFill>
          </a:ln>
        </p:spPr>
      </p:pic>
      <p:sp>
        <p:nvSpPr>
          <p:cNvPr id="11" name="TextBox 10">
            <a:extLst>
              <a:ext uri="{FF2B5EF4-FFF2-40B4-BE49-F238E27FC236}">
                <a16:creationId xmlns:a16="http://schemas.microsoft.com/office/drawing/2014/main" id="{3959DC48-DAD1-4B0F-AF63-B46F333C886E}"/>
              </a:ext>
            </a:extLst>
          </p:cNvPr>
          <p:cNvSpPr txBox="1"/>
          <p:nvPr/>
        </p:nvSpPr>
        <p:spPr>
          <a:xfrm>
            <a:off x="659329" y="692943"/>
            <a:ext cx="10464300" cy="646331"/>
          </a:xfrm>
          <a:prstGeom prst="rect">
            <a:avLst/>
          </a:prstGeom>
          <a:noFill/>
        </p:spPr>
        <p:txBody>
          <a:bodyPr wrap="square">
            <a:spAutoFit/>
          </a:bodyPr>
          <a:lstStyle/>
          <a:p>
            <a:r>
              <a:rPr lang="en-IN" sz="3600" b="1" dirty="0">
                <a:solidFill>
                  <a:schemeClr val="accent6"/>
                </a:solidFill>
              </a:rPr>
              <a:t>6. Cortisol / Glucocorticoid Pathway Integration</a:t>
            </a:r>
          </a:p>
        </p:txBody>
      </p:sp>
      <p:sp>
        <p:nvSpPr>
          <p:cNvPr id="13" name="TextBox 12">
            <a:extLst>
              <a:ext uri="{FF2B5EF4-FFF2-40B4-BE49-F238E27FC236}">
                <a16:creationId xmlns:a16="http://schemas.microsoft.com/office/drawing/2014/main" id="{3E8817ED-D85B-41BA-9CC4-C4B111F18CBB}"/>
              </a:ext>
            </a:extLst>
          </p:cNvPr>
          <p:cNvSpPr txBox="1"/>
          <p:nvPr/>
        </p:nvSpPr>
        <p:spPr>
          <a:xfrm>
            <a:off x="390610" y="5239101"/>
            <a:ext cx="10141082" cy="1384995"/>
          </a:xfrm>
          <a:prstGeom prst="rect">
            <a:avLst/>
          </a:prstGeom>
          <a:noFill/>
        </p:spPr>
        <p:txBody>
          <a:bodyPr wrap="square">
            <a:spAutoFit/>
          </a:bodyPr>
          <a:lstStyle/>
          <a:p>
            <a:pPr algn="just"/>
            <a:r>
              <a:rPr lang="en-IN" sz="1400" b="1" dirty="0"/>
              <a:t>Key Findings:</a:t>
            </a:r>
          </a:p>
          <a:p>
            <a:pPr marL="342900" indent="-342900" algn="just">
              <a:buFont typeface="+mj-lt"/>
              <a:buAutoNum type="arabicPeriod"/>
            </a:pPr>
            <a:endParaRPr lang="en-IN" sz="1400" dirty="0"/>
          </a:p>
          <a:p>
            <a:pPr marL="342900" indent="-342900" algn="just">
              <a:buFont typeface="+mj-lt"/>
              <a:buAutoNum type="arabicPeriod"/>
            </a:pPr>
            <a:r>
              <a:rPr lang="en-IN" sz="1400" dirty="0"/>
              <a:t>Identified 13 conserved cortisol-responsive genes shared across curated, Hallmark, and </a:t>
            </a:r>
            <a:r>
              <a:rPr lang="en-IN" sz="1400" dirty="0" err="1"/>
              <a:t>Reactome</a:t>
            </a:r>
            <a:r>
              <a:rPr lang="en-IN" sz="1400" dirty="0"/>
              <a:t> pathways.</a:t>
            </a:r>
          </a:p>
          <a:p>
            <a:pPr marL="342900" indent="-342900" algn="just">
              <a:buFont typeface="+mj-lt"/>
              <a:buAutoNum type="arabicPeriod"/>
            </a:pPr>
            <a:r>
              <a:rPr lang="en-IN" sz="1400" dirty="0"/>
              <a:t>Core glucocorticoid targets FKBP5, DUSP1, GADD45B, NR3C1were consistently suppressed in PCOS tissues.</a:t>
            </a:r>
          </a:p>
          <a:p>
            <a:pPr marL="342900" indent="-342900" algn="just">
              <a:buFont typeface="+mj-lt"/>
              <a:buAutoNum type="arabicPeriod"/>
            </a:pPr>
            <a:r>
              <a:rPr lang="en-IN" sz="1400" dirty="0"/>
              <a:t>This suppression indicates impaired glucocorticoid signalling and reduced stress-response capacity in PCOS.</a:t>
            </a:r>
          </a:p>
          <a:p>
            <a:pPr algn="just"/>
            <a:r>
              <a:rPr lang="en-US" sz="1400" dirty="0"/>
              <a:t>Overall, PCOS tissues show impaired glucocorticoid responsiveness, driving inflammation and stress-pathway dysregulation.</a:t>
            </a:r>
            <a:endParaRPr lang="en-IN" sz="1400" dirty="0"/>
          </a:p>
        </p:txBody>
      </p:sp>
      <p:pic>
        <p:nvPicPr>
          <p:cNvPr id="14" name="Picture 13">
            <a:extLst>
              <a:ext uri="{FF2B5EF4-FFF2-40B4-BE49-F238E27FC236}">
                <a16:creationId xmlns:a16="http://schemas.microsoft.com/office/drawing/2014/main" id="{E5E949CA-DB88-48CD-97EA-90F9D321ED43}"/>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3063" b="4432"/>
          <a:stretch/>
        </p:blipFill>
        <p:spPr bwMode="auto">
          <a:xfrm>
            <a:off x="5109651" y="1575018"/>
            <a:ext cx="6850667" cy="356438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6862132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92CE1BF-3817-467D-BE2C-6601C4D91129}"/>
              </a:ext>
            </a:extLst>
          </p:cNvPr>
          <p:cNvPicPr>
            <a:picLocks noChangeAspect="1"/>
          </p:cNvPicPr>
          <p:nvPr/>
        </p:nvPicPr>
        <p:blipFill>
          <a:blip r:embed="rId3"/>
          <a:stretch>
            <a:fillRect/>
          </a:stretch>
        </p:blipFill>
        <p:spPr>
          <a:xfrm>
            <a:off x="8512" y="1381944"/>
            <a:ext cx="3769160" cy="2512773"/>
          </a:xfrm>
          <a:prstGeom prst="rect">
            <a:avLst/>
          </a:prstGeom>
        </p:spPr>
      </p:pic>
      <p:pic>
        <p:nvPicPr>
          <p:cNvPr id="6" name="Picture 5">
            <a:extLst>
              <a:ext uri="{FF2B5EF4-FFF2-40B4-BE49-F238E27FC236}">
                <a16:creationId xmlns:a16="http://schemas.microsoft.com/office/drawing/2014/main" id="{904411D0-4041-475B-9B51-BC78239B9B06}"/>
              </a:ext>
            </a:extLst>
          </p:cNvPr>
          <p:cNvPicPr>
            <a:picLocks noChangeAspect="1"/>
          </p:cNvPicPr>
          <p:nvPr/>
        </p:nvPicPr>
        <p:blipFill>
          <a:blip r:embed="rId4"/>
          <a:stretch>
            <a:fillRect/>
          </a:stretch>
        </p:blipFill>
        <p:spPr>
          <a:xfrm>
            <a:off x="3883824" y="1381944"/>
            <a:ext cx="3855506" cy="2570337"/>
          </a:xfrm>
          <a:prstGeom prst="rect">
            <a:avLst/>
          </a:prstGeom>
        </p:spPr>
      </p:pic>
      <p:pic>
        <p:nvPicPr>
          <p:cNvPr id="8" name="Picture 7">
            <a:extLst>
              <a:ext uri="{FF2B5EF4-FFF2-40B4-BE49-F238E27FC236}">
                <a16:creationId xmlns:a16="http://schemas.microsoft.com/office/drawing/2014/main" id="{35A3F8E4-EE9F-41F0-9889-DC8DFCEF95BB}"/>
              </a:ext>
            </a:extLst>
          </p:cNvPr>
          <p:cNvPicPr>
            <a:picLocks noChangeAspect="1"/>
          </p:cNvPicPr>
          <p:nvPr/>
        </p:nvPicPr>
        <p:blipFill>
          <a:blip r:embed="rId5"/>
          <a:stretch>
            <a:fillRect/>
          </a:stretch>
        </p:blipFill>
        <p:spPr>
          <a:xfrm>
            <a:off x="7845482" y="1271245"/>
            <a:ext cx="4072474" cy="2714982"/>
          </a:xfrm>
          <a:prstGeom prst="rect">
            <a:avLst/>
          </a:prstGeom>
        </p:spPr>
      </p:pic>
      <p:sp>
        <p:nvSpPr>
          <p:cNvPr id="15" name="TextBox 14">
            <a:extLst>
              <a:ext uri="{FF2B5EF4-FFF2-40B4-BE49-F238E27FC236}">
                <a16:creationId xmlns:a16="http://schemas.microsoft.com/office/drawing/2014/main" id="{ED64CADC-48CF-4595-9D86-A4F519162940}"/>
              </a:ext>
            </a:extLst>
          </p:cNvPr>
          <p:cNvSpPr txBox="1"/>
          <p:nvPr/>
        </p:nvSpPr>
        <p:spPr>
          <a:xfrm>
            <a:off x="-106152" y="3952281"/>
            <a:ext cx="3676453" cy="499047"/>
          </a:xfrm>
          <a:prstGeom prst="rect">
            <a:avLst/>
          </a:prstGeom>
          <a:noFill/>
        </p:spPr>
        <p:txBody>
          <a:bodyPr wrap="square">
            <a:spAutoFit/>
          </a:bodyPr>
          <a:lstStyle/>
          <a:p>
            <a:pPr algn="ctr">
              <a:lnSpc>
                <a:spcPct val="115000"/>
              </a:lnSpc>
            </a:pPr>
            <a:r>
              <a:rPr lang="en-IN" sz="1200" b="1" u="sng" dirty="0">
                <a:effectLst/>
                <a:latin typeface="Cambria" panose="02040503050406030204" pitchFamily="18" charset="0"/>
                <a:ea typeface="Arial" panose="020B0604020202020204" pitchFamily="34" charset="0"/>
                <a:cs typeface="Calibri" panose="020F0502020204030204" pitchFamily="34" charset="0"/>
              </a:rPr>
              <a:t>GSE98421 - Adipose Tissue</a:t>
            </a:r>
            <a:endParaRPr lang="en-IN" sz="1200" dirty="0">
              <a:effectLst/>
              <a:latin typeface="Arial" panose="020B0604020202020204" pitchFamily="34" charset="0"/>
              <a:ea typeface="Arial" panose="020B0604020202020204" pitchFamily="34" charset="0"/>
            </a:endParaRPr>
          </a:p>
          <a:p>
            <a:pPr>
              <a:lnSpc>
                <a:spcPct val="115000"/>
              </a:lnSpc>
            </a:pPr>
            <a:r>
              <a:rPr lang="en-IN" sz="1200" dirty="0">
                <a:effectLst/>
                <a:latin typeface="Cambria" panose="02040503050406030204" pitchFamily="18" charset="0"/>
                <a:ea typeface="Arial" panose="020B0604020202020204" pitchFamily="34" charset="0"/>
                <a:cs typeface="Calibri" panose="020F0502020204030204" pitchFamily="34" charset="0"/>
              </a:rPr>
              <a:t> </a:t>
            </a:r>
            <a:endParaRPr lang="en-IN" sz="1200" dirty="0">
              <a:effectLst/>
              <a:latin typeface="Arial" panose="020B0604020202020204" pitchFamily="34" charset="0"/>
              <a:ea typeface="Arial" panose="020B0604020202020204" pitchFamily="34" charset="0"/>
            </a:endParaRPr>
          </a:p>
        </p:txBody>
      </p:sp>
      <p:sp>
        <p:nvSpPr>
          <p:cNvPr id="16" name="TextBox 15">
            <a:extLst>
              <a:ext uri="{FF2B5EF4-FFF2-40B4-BE49-F238E27FC236}">
                <a16:creationId xmlns:a16="http://schemas.microsoft.com/office/drawing/2014/main" id="{45DEFF77-93BF-4896-8987-98E7B07DCF39}"/>
              </a:ext>
            </a:extLst>
          </p:cNvPr>
          <p:cNvSpPr txBox="1"/>
          <p:nvPr/>
        </p:nvSpPr>
        <p:spPr>
          <a:xfrm>
            <a:off x="2794981" y="3980261"/>
            <a:ext cx="6108568" cy="286682"/>
          </a:xfrm>
          <a:prstGeom prst="rect">
            <a:avLst/>
          </a:prstGeom>
          <a:noFill/>
        </p:spPr>
        <p:txBody>
          <a:bodyPr wrap="square">
            <a:spAutoFit/>
          </a:bodyPr>
          <a:lstStyle/>
          <a:p>
            <a:pPr algn="ctr">
              <a:lnSpc>
                <a:spcPct val="115000"/>
              </a:lnSpc>
            </a:pPr>
            <a:r>
              <a:rPr lang="en-IN" sz="1200" b="1" u="sng" dirty="0">
                <a:effectLst/>
                <a:latin typeface="Cambria" panose="02040503050406030204" pitchFamily="18" charset="0"/>
                <a:ea typeface="Arial" panose="020B0604020202020204" pitchFamily="34" charset="0"/>
                <a:cs typeface="Calibri" panose="020F0502020204030204" pitchFamily="34" charset="0"/>
              </a:rPr>
              <a:t>GSE137684 - Ovarian Tissue</a:t>
            </a:r>
            <a:endParaRPr lang="en-IN" sz="1200" dirty="0">
              <a:effectLst/>
              <a:latin typeface="Arial" panose="020B0604020202020204" pitchFamily="34" charset="0"/>
              <a:ea typeface="Arial" panose="020B0604020202020204" pitchFamily="34" charset="0"/>
            </a:endParaRPr>
          </a:p>
        </p:txBody>
      </p:sp>
      <p:sp>
        <p:nvSpPr>
          <p:cNvPr id="18" name="TextBox 17">
            <a:extLst>
              <a:ext uri="{FF2B5EF4-FFF2-40B4-BE49-F238E27FC236}">
                <a16:creationId xmlns:a16="http://schemas.microsoft.com/office/drawing/2014/main" id="{A311A98B-F2D0-4B21-AD93-ED3F95354AC4}"/>
              </a:ext>
            </a:extLst>
          </p:cNvPr>
          <p:cNvSpPr txBox="1"/>
          <p:nvPr/>
        </p:nvSpPr>
        <p:spPr>
          <a:xfrm>
            <a:off x="6938108" y="3957392"/>
            <a:ext cx="6108568" cy="286682"/>
          </a:xfrm>
          <a:prstGeom prst="rect">
            <a:avLst/>
          </a:prstGeom>
          <a:noFill/>
        </p:spPr>
        <p:txBody>
          <a:bodyPr wrap="square">
            <a:spAutoFit/>
          </a:bodyPr>
          <a:lstStyle/>
          <a:p>
            <a:pPr marL="90170" algn="ctr">
              <a:lnSpc>
                <a:spcPct val="115000"/>
              </a:lnSpc>
            </a:pPr>
            <a:r>
              <a:rPr lang="en-IN" sz="1200" b="1" u="sng" dirty="0">
                <a:effectLst/>
                <a:latin typeface="Cambria" panose="02040503050406030204" pitchFamily="18" charset="0"/>
                <a:ea typeface="Arial" panose="020B0604020202020204" pitchFamily="34" charset="0"/>
                <a:cs typeface="Calibri" panose="020F0502020204030204" pitchFamily="34" charset="0"/>
              </a:rPr>
              <a:t>GSE277906 - RNA-</a:t>
            </a:r>
            <a:r>
              <a:rPr lang="en-IN" sz="1200" b="1" u="sng" dirty="0" err="1">
                <a:effectLst/>
                <a:latin typeface="Cambria" panose="02040503050406030204" pitchFamily="18" charset="0"/>
                <a:ea typeface="Arial" panose="020B0604020202020204" pitchFamily="34" charset="0"/>
                <a:cs typeface="Calibri" panose="020F0502020204030204" pitchFamily="34" charset="0"/>
              </a:rPr>
              <a:t>seq</a:t>
            </a:r>
            <a:r>
              <a:rPr lang="en-IN" sz="1200" b="1" u="sng" dirty="0">
                <a:effectLst/>
                <a:latin typeface="Cambria" panose="02040503050406030204" pitchFamily="18" charset="0"/>
                <a:ea typeface="Arial" panose="020B0604020202020204" pitchFamily="34" charset="0"/>
                <a:cs typeface="Calibri" panose="020F0502020204030204" pitchFamily="34" charset="0"/>
              </a:rPr>
              <a:t> Large Cohort</a:t>
            </a:r>
            <a:endParaRPr lang="en-IN" sz="1200" dirty="0">
              <a:effectLst/>
              <a:latin typeface="Arial" panose="020B0604020202020204" pitchFamily="34" charset="0"/>
              <a:ea typeface="Arial" panose="020B0604020202020204" pitchFamily="34" charset="0"/>
            </a:endParaRPr>
          </a:p>
        </p:txBody>
      </p:sp>
      <p:sp>
        <p:nvSpPr>
          <p:cNvPr id="20" name="TextBox 19">
            <a:extLst>
              <a:ext uri="{FF2B5EF4-FFF2-40B4-BE49-F238E27FC236}">
                <a16:creationId xmlns:a16="http://schemas.microsoft.com/office/drawing/2014/main" id="{AB916AA4-28D9-44D0-A4E6-D7AA30AB6BE9}"/>
              </a:ext>
            </a:extLst>
          </p:cNvPr>
          <p:cNvSpPr txBox="1"/>
          <p:nvPr/>
        </p:nvSpPr>
        <p:spPr>
          <a:xfrm>
            <a:off x="454924" y="686470"/>
            <a:ext cx="6589336" cy="584775"/>
          </a:xfrm>
          <a:prstGeom prst="rect">
            <a:avLst/>
          </a:prstGeom>
          <a:noFill/>
        </p:spPr>
        <p:txBody>
          <a:bodyPr wrap="square">
            <a:spAutoFit/>
          </a:bodyPr>
          <a:lstStyle/>
          <a:p>
            <a:r>
              <a:rPr lang="en-IN" sz="3200" b="1" kern="1800" dirty="0">
                <a:solidFill>
                  <a:schemeClr val="accent6"/>
                </a:solidFill>
                <a:effectLst/>
                <a:latin typeface="Times New Roman" panose="02020603050405020304" pitchFamily="18" charset="0"/>
                <a:ea typeface="Times New Roman" panose="02020603050405020304" pitchFamily="18" charset="0"/>
              </a:rPr>
              <a:t>7. GO Enrichment</a:t>
            </a:r>
            <a:endParaRPr lang="en-IN" sz="3200" dirty="0">
              <a:solidFill>
                <a:schemeClr val="accent6"/>
              </a:solidFill>
            </a:endParaRPr>
          </a:p>
        </p:txBody>
      </p:sp>
      <p:sp>
        <p:nvSpPr>
          <p:cNvPr id="22" name="TextBox 21">
            <a:extLst>
              <a:ext uri="{FF2B5EF4-FFF2-40B4-BE49-F238E27FC236}">
                <a16:creationId xmlns:a16="http://schemas.microsoft.com/office/drawing/2014/main" id="{02E86DCB-EFDD-4895-8A3C-9AF6A2E0CBD6}"/>
              </a:ext>
            </a:extLst>
          </p:cNvPr>
          <p:cNvSpPr txBox="1"/>
          <p:nvPr/>
        </p:nvSpPr>
        <p:spPr>
          <a:xfrm>
            <a:off x="454924" y="4742950"/>
            <a:ext cx="11253167" cy="2031325"/>
          </a:xfrm>
          <a:prstGeom prst="rect">
            <a:avLst/>
          </a:prstGeom>
          <a:noFill/>
        </p:spPr>
        <p:txBody>
          <a:bodyPr wrap="square">
            <a:spAutoFit/>
          </a:bodyPr>
          <a:lstStyle/>
          <a:p>
            <a:r>
              <a:rPr lang="en-IN" sz="1400" b="1" dirty="0"/>
              <a:t>GO enrichment revealed consistent biological disruptions across datasets.</a:t>
            </a:r>
            <a:endParaRPr lang="en-IN" sz="1400" dirty="0"/>
          </a:p>
          <a:p>
            <a:pPr marL="285750" indent="-285750">
              <a:buFont typeface="Arial" panose="020B0604020202020204" pitchFamily="34" charset="0"/>
              <a:buChar char="•"/>
            </a:pPr>
            <a:r>
              <a:rPr lang="en-IN" sz="1400" b="1" dirty="0"/>
              <a:t>GSE98421 (Adipose tissue):</a:t>
            </a:r>
            <a:r>
              <a:rPr lang="en-IN" sz="1400" dirty="0"/>
              <a:t> Enriched for </a:t>
            </a:r>
            <a:r>
              <a:rPr lang="en-IN" sz="1400" i="1" dirty="0"/>
              <a:t>steroid-hormone response, phosphorylation regulation, immune activation,</a:t>
            </a:r>
            <a:r>
              <a:rPr lang="en-IN" sz="1400" dirty="0"/>
              <a:t> and </a:t>
            </a:r>
            <a:r>
              <a:rPr lang="en-IN" sz="1400" i="1" dirty="0"/>
              <a:t>autophagy</a:t>
            </a:r>
            <a:r>
              <a:rPr lang="en-IN" sz="1400" dirty="0"/>
              <a:t>, indicating endocrine dysfunction and metabolic stress.</a:t>
            </a:r>
          </a:p>
          <a:p>
            <a:pPr marL="285750" indent="-285750">
              <a:buFont typeface="Arial" panose="020B0604020202020204" pitchFamily="34" charset="0"/>
              <a:buChar char="•"/>
            </a:pPr>
            <a:r>
              <a:rPr lang="en-IN" sz="1400" b="1" dirty="0"/>
              <a:t>GSE137684 (Ovary):</a:t>
            </a:r>
            <a:r>
              <a:rPr lang="en-IN" sz="1400" dirty="0"/>
              <a:t> Enriched for </a:t>
            </a:r>
            <a:r>
              <a:rPr lang="en-IN" sz="1400" i="1" dirty="0"/>
              <a:t>developmental, endothelial,</a:t>
            </a:r>
            <a:r>
              <a:rPr lang="en-IN" sz="1400" dirty="0"/>
              <a:t> and </a:t>
            </a:r>
            <a:r>
              <a:rPr lang="en-IN" sz="1400" i="1" dirty="0"/>
              <a:t>tissue-remodelling pathways</a:t>
            </a:r>
            <a:r>
              <a:rPr lang="en-IN" sz="1400" dirty="0"/>
              <a:t>, reflecting microvascular and structural alterations in PCOS ovaries.</a:t>
            </a:r>
          </a:p>
          <a:p>
            <a:pPr marL="285750" indent="-285750">
              <a:buFont typeface="Arial" panose="020B0604020202020204" pitchFamily="34" charset="0"/>
              <a:buChar char="•"/>
            </a:pPr>
            <a:r>
              <a:rPr lang="en-IN" sz="1400" b="1" dirty="0"/>
              <a:t>GSE277906 (RNA-</a:t>
            </a:r>
            <a:r>
              <a:rPr lang="en-IN" sz="1400" b="1" dirty="0" err="1"/>
              <a:t>seq</a:t>
            </a:r>
            <a:r>
              <a:rPr lang="en-IN" sz="1400" b="1" dirty="0"/>
              <a:t> cohort):</a:t>
            </a:r>
            <a:r>
              <a:rPr lang="en-IN" sz="1400" dirty="0"/>
              <a:t> Showed strong enrichment for </a:t>
            </a:r>
            <a:r>
              <a:rPr lang="en-IN" sz="1400" i="1" dirty="0"/>
              <a:t>leukocyte adhesion, chemotaxis, endothelial activation,</a:t>
            </a:r>
            <a:r>
              <a:rPr lang="en-IN" sz="1400" dirty="0"/>
              <a:t> and </a:t>
            </a:r>
            <a:r>
              <a:rPr lang="en-IN" sz="1400" i="1" dirty="0"/>
              <a:t>inflammatory </a:t>
            </a:r>
            <a:r>
              <a:rPr lang="en-IN" sz="1400" i="1" dirty="0" err="1"/>
              <a:t>signaling</a:t>
            </a:r>
            <a:r>
              <a:rPr lang="en-IN" sz="1400" dirty="0"/>
              <a:t>, confirming systemic immune dysregulation.</a:t>
            </a:r>
          </a:p>
          <a:p>
            <a:pPr marL="285750" indent="-285750">
              <a:buFont typeface="Arial" panose="020B0604020202020204" pitchFamily="34" charset="0"/>
              <a:buChar char="•"/>
            </a:pPr>
            <a:r>
              <a:rPr lang="en-IN" sz="1400" b="1" dirty="0"/>
              <a:t>Together, these patterns show that PCOS is driven by interconnected defects in hormone signalling, inflammation, and tissue remodelling.</a:t>
            </a:r>
            <a:endParaRPr lang="en-IN" sz="1400" dirty="0"/>
          </a:p>
        </p:txBody>
      </p:sp>
      <p:sp>
        <p:nvSpPr>
          <p:cNvPr id="24" name="TextBox 23">
            <a:extLst>
              <a:ext uri="{FF2B5EF4-FFF2-40B4-BE49-F238E27FC236}">
                <a16:creationId xmlns:a16="http://schemas.microsoft.com/office/drawing/2014/main" id="{69C05BDB-9218-4F10-8CB3-042FBDB0060F}"/>
              </a:ext>
            </a:extLst>
          </p:cNvPr>
          <p:cNvSpPr txBox="1"/>
          <p:nvPr/>
        </p:nvSpPr>
        <p:spPr>
          <a:xfrm>
            <a:off x="1326823" y="4281566"/>
            <a:ext cx="9636352" cy="286682"/>
          </a:xfrm>
          <a:prstGeom prst="rect">
            <a:avLst/>
          </a:prstGeom>
          <a:noFill/>
        </p:spPr>
        <p:txBody>
          <a:bodyPr wrap="square">
            <a:spAutoFit/>
          </a:bodyPr>
          <a:lstStyle/>
          <a:p>
            <a:r>
              <a:rPr lang="en-US" sz="1200" b="1" i="1" dirty="0"/>
              <a:t>GO Biological Process enrichment was performed using </a:t>
            </a:r>
            <a:r>
              <a:rPr lang="en-US" sz="1200" b="1" i="1" dirty="0" err="1"/>
              <a:t>clusterProfiler</a:t>
            </a:r>
            <a:r>
              <a:rPr lang="en-US" sz="1200" b="1" i="1" dirty="0"/>
              <a:t>, with p-adjusted &lt; 0.05 (</a:t>
            </a:r>
            <a:r>
              <a:rPr lang="en-US" sz="1200" b="1" i="1" dirty="0" err="1"/>
              <a:t>Benjamini</a:t>
            </a:r>
            <a:r>
              <a:rPr lang="en-US" sz="1200" b="1" i="1" dirty="0"/>
              <a:t>–Hochberg) as significance cutoff.</a:t>
            </a:r>
            <a:endParaRPr lang="en-IN" sz="1200" b="1" i="1" dirty="0"/>
          </a:p>
        </p:txBody>
      </p:sp>
    </p:spTree>
    <p:extLst>
      <p:ext uri="{BB962C8B-B14F-4D97-AF65-F5344CB8AC3E}">
        <p14:creationId xmlns:p14="http://schemas.microsoft.com/office/powerpoint/2010/main" val="14780130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161F51-B4BD-4CB7-838A-13ACD7E87B9D}"/>
              </a:ext>
            </a:extLst>
          </p:cNvPr>
          <p:cNvSpPr txBox="1"/>
          <p:nvPr/>
        </p:nvSpPr>
        <p:spPr>
          <a:xfrm>
            <a:off x="661737" y="724921"/>
            <a:ext cx="6097604" cy="584775"/>
          </a:xfrm>
          <a:prstGeom prst="rect">
            <a:avLst/>
          </a:prstGeom>
          <a:noFill/>
        </p:spPr>
        <p:txBody>
          <a:bodyPr wrap="square">
            <a:spAutoFit/>
          </a:bodyPr>
          <a:lstStyle/>
          <a:p>
            <a:r>
              <a:rPr lang="en-IN" sz="3200" b="1" kern="1800" dirty="0">
                <a:solidFill>
                  <a:schemeClr val="accent6"/>
                </a:solidFill>
                <a:effectLst/>
                <a:latin typeface="Times New Roman" panose="02020603050405020304" pitchFamily="18" charset="0"/>
                <a:ea typeface="Times New Roman" panose="02020603050405020304" pitchFamily="18" charset="0"/>
              </a:rPr>
              <a:t>8. KEGG Signalling Pathways</a:t>
            </a:r>
            <a:endParaRPr lang="en-IN" sz="3200" dirty="0">
              <a:solidFill>
                <a:schemeClr val="accent6"/>
              </a:solidFill>
            </a:endParaRPr>
          </a:p>
        </p:txBody>
      </p:sp>
      <p:pic>
        <p:nvPicPr>
          <p:cNvPr id="7" name="Picture 6">
            <a:extLst>
              <a:ext uri="{FF2B5EF4-FFF2-40B4-BE49-F238E27FC236}">
                <a16:creationId xmlns:a16="http://schemas.microsoft.com/office/drawing/2014/main" id="{11F031BE-5D76-40FF-BABC-FFBABDC6DD34}"/>
              </a:ext>
            </a:extLst>
          </p:cNvPr>
          <p:cNvPicPr>
            <a:picLocks noChangeAspect="1"/>
          </p:cNvPicPr>
          <p:nvPr/>
        </p:nvPicPr>
        <p:blipFill>
          <a:blip r:embed="rId3"/>
          <a:stretch>
            <a:fillRect/>
          </a:stretch>
        </p:blipFill>
        <p:spPr>
          <a:xfrm>
            <a:off x="0" y="1465572"/>
            <a:ext cx="4276425" cy="2135133"/>
          </a:xfrm>
          <a:prstGeom prst="rect">
            <a:avLst/>
          </a:prstGeom>
        </p:spPr>
      </p:pic>
      <p:pic>
        <p:nvPicPr>
          <p:cNvPr id="8" name="Picture 7">
            <a:extLst>
              <a:ext uri="{FF2B5EF4-FFF2-40B4-BE49-F238E27FC236}">
                <a16:creationId xmlns:a16="http://schemas.microsoft.com/office/drawing/2014/main" id="{514EBD1C-B890-4623-BFA7-B5BF6BF10876}"/>
              </a:ext>
            </a:extLst>
          </p:cNvPr>
          <p:cNvPicPr>
            <a:picLocks noChangeAspect="1"/>
          </p:cNvPicPr>
          <p:nvPr/>
        </p:nvPicPr>
        <p:blipFill>
          <a:blip r:embed="rId4"/>
          <a:stretch>
            <a:fillRect/>
          </a:stretch>
        </p:blipFill>
        <p:spPr>
          <a:xfrm>
            <a:off x="4276425" y="1465572"/>
            <a:ext cx="4276424" cy="2136452"/>
          </a:xfrm>
          <a:prstGeom prst="rect">
            <a:avLst/>
          </a:prstGeom>
        </p:spPr>
      </p:pic>
      <p:pic>
        <p:nvPicPr>
          <p:cNvPr id="9" name="Picture 8">
            <a:extLst>
              <a:ext uri="{FF2B5EF4-FFF2-40B4-BE49-F238E27FC236}">
                <a16:creationId xmlns:a16="http://schemas.microsoft.com/office/drawing/2014/main" id="{C73BA122-5D4A-4A09-83B7-E5827E5A8B3C}"/>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6536"/>
          <a:stretch/>
        </p:blipFill>
        <p:spPr>
          <a:xfrm>
            <a:off x="8552849" y="1463289"/>
            <a:ext cx="3639151" cy="2357665"/>
          </a:xfrm>
          <a:prstGeom prst="rect">
            <a:avLst/>
          </a:prstGeom>
        </p:spPr>
      </p:pic>
      <p:pic>
        <p:nvPicPr>
          <p:cNvPr id="10" name="Picture 9">
            <a:extLst>
              <a:ext uri="{FF2B5EF4-FFF2-40B4-BE49-F238E27FC236}">
                <a16:creationId xmlns:a16="http://schemas.microsoft.com/office/drawing/2014/main" id="{04B0197A-A153-4ACC-87C9-59CA2623C26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3429000"/>
            <a:ext cx="2997835" cy="3190875"/>
          </a:xfrm>
          <a:prstGeom prst="rect">
            <a:avLst/>
          </a:prstGeom>
        </p:spPr>
      </p:pic>
      <p:sp>
        <p:nvSpPr>
          <p:cNvPr id="12" name="TextBox 11">
            <a:extLst>
              <a:ext uri="{FF2B5EF4-FFF2-40B4-BE49-F238E27FC236}">
                <a16:creationId xmlns:a16="http://schemas.microsoft.com/office/drawing/2014/main" id="{A4820855-1912-47FC-868E-0330EF3D6C67}"/>
              </a:ext>
            </a:extLst>
          </p:cNvPr>
          <p:cNvSpPr txBox="1"/>
          <p:nvPr/>
        </p:nvSpPr>
        <p:spPr>
          <a:xfrm>
            <a:off x="4261042" y="192930"/>
            <a:ext cx="7793611" cy="461665"/>
          </a:xfrm>
          <a:prstGeom prst="rect">
            <a:avLst/>
          </a:prstGeom>
          <a:noFill/>
        </p:spPr>
        <p:txBody>
          <a:bodyPr wrap="square">
            <a:spAutoFit/>
          </a:bodyPr>
          <a:lstStyle/>
          <a:p>
            <a:pPr algn="r"/>
            <a:r>
              <a:rPr lang="en-IN" sz="1200" i="1" dirty="0"/>
              <a:t>KEGG enrichment with BH-adjusted significance thresholds identified cytokine receptor interactions as a dominant signalling axis, reflecting coordinated dysregulation across multiple DEG networks in PCOS.</a:t>
            </a:r>
          </a:p>
        </p:txBody>
      </p:sp>
      <p:sp>
        <p:nvSpPr>
          <p:cNvPr id="17" name="TextBox 16">
            <a:extLst>
              <a:ext uri="{FF2B5EF4-FFF2-40B4-BE49-F238E27FC236}">
                <a16:creationId xmlns:a16="http://schemas.microsoft.com/office/drawing/2014/main" id="{BFBA3ECD-9214-4825-97B0-9CD320B62E55}"/>
              </a:ext>
            </a:extLst>
          </p:cNvPr>
          <p:cNvSpPr txBox="1"/>
          <p:nvPr/>
        </p:nvSpPr>
        <p:spPr>
          <a:xfrm>
            <a:off x="2997835" y="3756581"/>
            <a:ext cx="9056818" cy="2677656"/>
          </a:xfrm>
          <a:prstGeom prst="rect">
            <a:avLst/>
          </a:prstGeom>
          <a:noFill/>
        </p:spPr>
        <p:txBody>
          <a:bodyPr wrap="square">
            <a:spAutoFit/>
          </a:bodyPr>
          <a:lstStyle/>
          <a:p>
            <a:pPr algn="just"/>
            <a:r>
              <a:rPr lang="en-IN" sz="1200" b="1" dirty="0"/>
              <a:t>Key Findings: </a:t>
            </a:r>
          </a:p>
          <a:p>
            <a:pPr algn="just"/>
            <a:endParaRPr lang="en-IN" sz="1200" dirty="0"/>
          </a:p>
          <a:p>
            <a:pPr algn="just"/>
            <a:r>
              <a:rPr lang="en-IN" sz="1200" dirty="0"/>
              <a:t>1. The pathways associated with viral proteins interacting with cytokines and receptors are among the most statistically significant pathways that are disrupted in PCOS adipose tissues. This pathway supports the notion that there is an overall dysregulation of cytokine-receptor signalling in these tissues.</a:t>
            </a:r>
          </a:p>
          <a:p>
            <a:pPr algn="just"/>
            <a:endParaRPr lang="en-IN" sz="1200" dirty="0"/>
          </a:p>
          <a:p>
            <a:pPr algn="just"/>
            <a:r>
              <a:rPr lang="en-IN" sz="1200" dirty="0"/>
              <a:t>2. There are broader transcriptional and proliferative signalling disturbances resulting from metabolic and hormonal imbalances evident in the Breast Cancer Pathways enriched in our data set.</a:t>
            </a:r>
          </a:p>
          <a:p>
            <a:pPr algn="just"/>
            <a:endParaRPr lang="en-IN" sz="1200" dirty="0"/>
          </a:p>
          <a:p>
            <a:pPr algn="just"/>
            <a:r>
              <a:rPr lang="en-IN" sz="1200" dirty="0"/>
              <a:t>3. Gene expression distributions simulated for individual genes in our data set reveal disruption across all pathways analysed in the KEGG data set, indicating a dysregulation of all signalling modules, not simply those corresponding to individual genes.</a:t>
            </a:r>
          </a:p>
          <a:p>
            <a:pPr algn="just"/>
            <a:endParaRPr lang="en-IN" sz="1200" dirty="0"/>
          </a:p>
          <a:p>
            <a:pPr algn="just"/>
            <a:r>
              <a:rPr lang="en-IN" sz="1200" dirty="0"/>
              <a:t>4. The interaction networks from the pathways analysed, in particular those involving central cytokine nodes (e.g., IL6, CXCL2, CXCL5, CCR1), suggest an evolutionary change in inflammation signalling in women with PCOS.</a:t>
            </a:r>
          </a:p>
        </p:txBody>
      </p:sp>
    </p:spTree>
    <p:extLst>
      <p:ext uri="{BB962C8B-B14F-4D97-AF65-F5344CB8AC3E}">
        <p14:creationId xmlns:p14="http://schemas.microsoft.com/office/powerpoint/2010/main" val="16835283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19</a:t>
            </a:fld>
            <a:endParaRPr lang="en-US" dirty="0"/>
          </a:p>
        </p:txBody>
      </p:sp>
      <p:pic>
        <p:nvPicPr>
          <p:cNvPr id="4" name="Picture 3">
            <a:extLst>
              <a:ext uri="{FF2B5EF4-FFF2-40B4-BE49-F238E27FC236}">
                <a16:creationId xmlns:a16="http://schemas.microsoft.com/office/drawing/2014/main" id="{A725FE57-9845-4150-8A18-99034AD5C99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100597"/>
            <a:ext cx="3761295" cy="2759908"/>
          </a:xfrm>
          <a:prstGeom prst="rect">
            <a:avLst/>
          </a:prstGeom>
          <a:noFill/>
          <a:ln>
            <a:noFill/>
          </a:ln>
        </p:spPr>
      </p:pic>
      <p:sp>
        <p:nvSpPr>
          <p:cNvPr id="6" name="TextBox 5">
            <a:extLst>
              <a:ext uri="{FF2B5EF4-FFF2-40B4-BE49-F238E27FC236}">
                <a16:creationId xmlns:a16="http://schemas.microsoft.com/office/drawing/2014/main" id="{DC54C5A6-9EE2-4617-AC78-43505453A6B1}"/>
              </a:ext>
            </a:extLst>
          </p:cNvPr>
          <p:cNvSpPr txBox="1"/>
          <p:nvPr/>
        </p:nvSpPr>
        <p:spPr>
          <a:xfrm>
            <a:off x="65401" y="444557"/>
            <a:ext cx="9672487" cy="593304"/>
          </a:xfrm>
          <a:prstGeom prst="rect">
            <a:avLst/>
          </a:prstGeom>
          <a:noFill/>
        </p:spPr>
        <p:txBody>
          <a:bodyPr wrap="square">
            <a:spAutoFit/>
          </a:bodyPr>
          <a:lstStyle/>
          <a:p>
            <a:pPr>
              <a:lnSpc>
                <a:spcPct val="107000"/>
              </a:lnSpc>
              <a:spcAft>
                <a:spcPts val="800"/>
              </a:spcAft>
            </a:pPr>
            <a:r>
              <a:rPr lang="en-IN" sz="3200" b="1" kern="180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9. STRING</a:t>
            </a:r>
            <a:r>
              <a:rPr lang="en-IN" sz="3200" b="1" kern="1800" dirty="0">
                <a:solidFill>
                  <a:schemeClr val="accent6"/>
                </a:solidFill>
                <a:latin typeface="Times New Roman" panose="02020603050405020304" pitchFamily="18" charset="0"/>
                <a:ea typeface="Times New Roman" panose="02020603050405020304" pitchFamily="18" charset="0"/>
                <a:cs typeface="Times New Roman" panose="02020603050405020304" pitchFamily="18" charset="0"/>
              </a:rPr>
              <a:t> - </a:t>
            </a:r>
            <a:r>
              <a:rPr lang="en-IN" sz="3200" b="1" kern="180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MCODE Network (Adipose GSE98421)</a:t>
            </a:r>
            <a:endParaRPr lang="en-IN" sz="14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92B171C2-4FBB-470B-937C-ADE2BC36AEB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27349" y="1081241"/>
            <a:ext cx="4428646" cy="2759908"/>
          </a:xfrm>
          <a:prstGeom prst="rect">
            <a:avLst/>
          </a:prstGeom>
          <a:noFill/>
          <a:ln>
            <a:noFill/>
          </a:ln>
        </p:spPr>
      </p:pic>
      <p:pic>
        <p:nvPicPr>
          <p:cNvPr id="8" name="Picture 7">
            <a:extLst>
              <a:ext uri="{FF2B5EF4-FFF2-40B4-BE49-F238E27FC236}">
                <a16:creationId xmlns:a16="http://schemas.microsoft.com/office/drawing/2014/main" id="{511F5610-A6A1-47CA-BB87-FB78E41C3147}"/>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761295" y="1100597"/>
            <a:ext cx="3666054" cy="2759908"/>
          </a:xfrm>
          <a:prstGeom prst="rect">
            <a:avLst/>
          </a:prstGeom>
          <a:noFill/>
          <a:ln>
            <a:noFill/>
          </a:ln>
        </p:spPr>
      </p:pic>
      <p:sp>
        <p:nvSpPr>
          <p:cNvPr id="10" name="TextBox 9">
            <a:extLst>
              <a:ext uri="{FF2B5EF4-FFF2-40B4-BE49-F238E27FC236}">
                <a16:creationId xmlns:a16="http://schemas.microsoft.com/office/drawing/2014/main" id="{9B058E46-3313-4987-BEB4-539523700BA5}"/>
              </a:ext>
            </a:extLst>
          </p:cNvPr>
          <p:cNvSpPr txBox="1"/>
          <p:nvPr/>
        </p:nvSpPr>
        <p:spPr>
          <a:xfrm>
            <a:off x="65401" y="3998142"/>
            <a:ext cx="11717518" cy="2693045"/>
          </a:xfrm>
          <a:prstGeom prst="rect">
            <a:avLst/>
          </a:prstGeom>
          <a:solidFill>
            <a:srgbClr val="FDFAF6"/>
          </a:solidFill>
          <a:ln>
            <a:solidFill>
              <a:srgbClr val="FDFAF6"/>
            </a:solidFill>
          </a:ln>
        </p:spPr>
        <p:txBody>
          <a:bodyPr wrap="square">
            <a:spAutoFit/>
          </a:bodyPr>
          <a:lstStyle/>
          <a:p>
            <a:pPr algn="just"/>
            <a:r>
              <a:rPr lang="en-IN" sz="1300" b="1" dirty="0"/>
              <a:t>Key Findings: </a:t>
            </a:r>
          </a:p>
          <a:p>
            <a:pPr algn="just"/>
            <a:endParaRPr lang="en-IN" sz="1300" dirty="0"/>
          </a:p>
          <a:p>
            <a:pPr marL="285750" indent="-285750" algn="just">
              <a:buFont typeface="Arial" panose="020B0604020202020204" pitchFamily="34" charset="0"/>
              <a:buChar char="•"/>
            </a:pPr>
            <a:r>
              <a:rPr lang="en-IN" sz="1300" dirty="0"/>
              <a:t>MCODE cluster identifies one densely connected metabolic module dominated by genes from the ACAD, ACOX, ACAT, and ACSS families that are central to fatty-acid β-oxidation and acetyl-CoA metabolism.</a:t>
            </a:r>
          </a:p>
          <a:p>
            <a:pPr marL="285750" indent="-285750" algn="just">
              <a:buFont typeface="Arial" panose="020B0604020202020204" pitchFamily="34" charset="0"/>
              <a:buChar char="•"/>
            </a:pPr>
            <a:endParaRPr lang="en-IN" sz="1300" dirty="0"/>
          </a:p>
          <a:p>
            <a:pPr marL="285750" indent="-285750" algn="just">
              <a:buFont typeface="Arial" panose="020B0604020202020204" pitchFamily="34" charset="0"/>
              <a:buChar char="•"/>
            </a:pPr>
            <a:r>
              <a:rPr lang="en-IN" sz="1300" dirty="0"/>
              <a:t>High connectivity among enzymes involved in mitochondrial and peroxisomal lipid oxidation indicates coordinated dysregulation of core metabolic pathways in PCOS adipose tissue.</a:t>
            </a:r>
          </a:p>
          <a:p>
            <a:pPr marL="285750" indent="-285750" algn="just">
              <a:buFont typeface="Arial" panose="020B0604020202020204" pitchFamily="34" charset="0"/>
              <a:buChar char="•"/>
            </a:pPr>
            <a:endParaRPr lang="en-IN" sz="1300" dirty="0"/>
          </a:p>
          <a:p>
            <a:pPr marL="285750" indent="-285750" algn="just">
              <a:buFont typeface="Arial" panose="020B0604020202020204" pitchFamily="34" charset="0"/>
              <a:buChar char="•"/>
            </a:pPr>
            <a:r>
              <a:rPr lang="en-IN" sz="1300" dirty="0"/>
              <a:t>STRING network reveals key hub nodes involved, ACOX1, ACADSB, ACAT1/2, and ACAA1/2, indicative of a disruption in metabolic regulators that can lead to wider reaching oxidative and lipid handling defects.</a:t>
            </a:r>
          </a:p>
          <a:p>
            <a:pPr marL="285750" indent="-285750" algn="just">
              <a:buFont typeface="Arial" panose="020B0604020202020204" pitchFamily="34" charset="0"/>
              <a:buChar char="•"/>
            </a:pPr>
            <a:endParaRPr lang="en-IN" sz="1300" dirty="0"/>
          </a:p>
          <a:p>
            <a:pPr marL="285750" indent="-285750" algn="just">
              <a:buFont typeface="Arial" panose="020B0604020202020204" pitchFamily="34" charset="0"/>
              <a:buChar char="•"/>
            </a:pPr>
            <a:r>
              <a:rPr lang="en-IN" sz="1300" dirty="0"/>
              <a:t>Gene family </a:t>
            </a:r>
            <a:r>
              <a:rPr lang="en-IN" sz="1300" dirty="0" err="1"/>
              <a:t>barplot</a:t>
            </a:r>
            <a:r>
              <a:rPr lang="en-IN" sz="1300" dirty="0"/>
              <a:t> confirms enrichment of the lipid metabolism gene families that support the pathway level rather than isolated gene changes.</a:t>
            </a:r>
          </a:p>
          <a:p>
            <a:pPr marL="285750" indent="-285750" algn="just">
              <a:buFont typeface="Arial" panose="020B0604020202020204" pitchFamily="34" charset="0"/>
              <a:buChar char="•"/>
            </a:pPr>
            <a:endParaRPr lang="en-IN" sz="1300" dirty="0"/>
          </a:p>
        </p:txBody>
      </p:sp>
    </p:spTree>
    <p:extLst>
      <p:ext uri="{BB962C8B-B14F-4D97-AF65-F5344CB8AC3E}">
        <p14:creationId xmlns:p14="http://schemas.microsoft.com/office/powerpoint/2010/main" val="11317180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20</a:t>
            </a:fld>
            <a:endParaRPr lang="en-US" dirty="0"/>
          </a:p>
        </p:txBody>
      </p:sp>
      <p:sp>
        <p:nvSpPr>
          <p:cNvPr id="6" name="TextBox 5">
            <a:extLst>
              <a:ext uri="{FF2B5EF4-FFF2-40B4-BE49-F238E27FC236}">
                <a16:creationId xmlns:a16="http://schemas.microsoft.com/office/drawing/2014/main" id="{DC54C5A6-9EE2-4617-AC78-43505453A6B1}"/>
              </a:ext>
            </a:extLst>
          </p:cNvPr>
          <p:cNvSpPr txBox="1"/>
          <p:nvPr/>
        </p:nvSpPr>
        <p:spPr>
          <a:xfrm>
            <a:off x="65401" y="444557"/>
            <a:ext cx="10681155" cy="593304"/>
          </a:xfrm>
          <a:prstGeom prst="rect">
            <a:avLst/>
          </a:prstGeom>
          <a:noFill/>
        </p:spPr>
        <p:txBody>
          <a:bodyPr wrap="square">
            <a:spAutoFit/>
          </a:bodyPr>
          <a:lstStyle/>
          <a:p>
            <a:pPr>
              <a:lnSpc>
                <a:spcPct val="107000"/>
              </a:lnSpc>
              <a:spcAft>
                <a:spcPts val="800"/>
              </a:spcAft>
            </a:pPr>
            <a:r>
              <a:rPr lang="en-IN" sz="3200" b="1" kern="1800" dirty="0">
                <a:solidFill>
                  <a:schemeClr val="accent6"/>
                </a:solidFill>
                <a:latin typeface="Times New Roman" panose="02020603050405020304" pitchFamily="18" charset="0"/>
                <a:ea typeface="Times New Roman" panose="02020603050405020304" pitchFamily="18" charset="0"/>
                <a:cs typeface="Times New Roman" panose="02020603050405020304" pitchFamily="18" charset="0"/>
              </a:rPr>
              <a:t>9</a:t>
            </a:r>
            <a:r>
              <a:rPr lang="en-IN" sz="3200" b="1" kern="180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 (B)  STRING</a:t>
            </a:r>
            <a:r>
              <a:rPr lang="en-IN" sz="3200" b="1" kern="1800" dirty="0">
                <a:solidFill>
                  <a:schemeClr val="accent6"/>
                </a:solidFill>
                <a:latin typeface="Times New Roman" panose="02020603050405020304" pitchFamily="18" charset="0"/>
                <a:ea typeface="Times New Roman" panose="02020603050405020304" pitchFamily="18" charset="0"/>
                <a:cs typeface="Times New Roman" panose="02020603050405020304" pitchFamily="18" charset="0"/>
              </a:rPr>
              <a:t> - </a:t>
            </a:r>
            <a:r>
              <a:rPr lang="en-IN" sz="3200" b="1" kern="180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MCODE Network (Ovary GSE 137684)</a:t>
            </a:r>
            <a:endParaRPr lang="en-IN" sz="14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id="{29D2F3D2-7A9E-485B-B4DB-BC7B6364A6A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772" y="1195275"/>
            <a:ext cx="5114290" cy="2827655"/>
          </a:xfrm>
          <a:prstGeom prst="rect">
            <a:avLst/>
          </a:prstGeom>
          <a:noFill/>
          <a:ln>
            <a:noFill/>
          </a:ln>
        </p:spPr>
      </p:pic>
      <p:pic>
        <p:nvPicPr>
          <p:cNvPr id="10" name="Picture 9">
            <a:extLst>
              <a:ext uri="{FF2B5EF4-FFF2-40B4-BE49-F238E27FC236}">
                <a16:creationId xmlns:a16="http://schemas.microsoft.com/office/drawing/2014/main" id="{E213A24A-4341-41E6-A38B-D696CBCDD18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775262" y="1266287"/>
            <a:ext cx="3326426" cy="2685629"/>
          </a:xfrm>
          <a:prstGeom prst="rect">
            <a:avLst/>
          </a:prstGeom>
          <a:noFill/>
          <a:ln>
            <a:noFill/>
          </a:ln>
        </p:spPr>
      </p:pic>
      <p:pic>
        <p:nvPicPr>
          <p:cNvPr id="11" name="Picture 10">
            <a:extLst>
              <a:ext uri="{FF2B5EF4-FFF2-40B4-BE49-F238E27FC236}">
                <a16:creationId xmlns:a16="http://schemas.microsoft.com/office/drawing/2014/main" id="{0760B008-1AEE-48AD-9AB9-A8AADAB60C03}"/>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17932" y="1195275"/>
            <a:ext cx="3774440" cy="2846705"/>
          </a:xfrm>
          <a:prstGeom prst="rect">
            <a:avLst/>
          </a:prstGeom>
          <a:noFill/>
          <a:ln>
            <a:noFill/>
          </a:ln>
        </p:spPr>
      </p:pic>
      <p:sp>
        <p:nvSpPr>
          <p:cNvPr id="12" name="TextBox 11">
            <a:extLst>
              <a:ext uri="{FF2B5EF4-FFF2-40B4-BE49-F238E27FC236}">
                <a16:creationId xmlns:a16="http://schemas.microsoft.com/office/drawing/2014/main" id="{953E32A1-5418-48FB-9BED-BA0A80FBCB43}"/>
              </a:ext>
            </a:extLst>
          </p:cNvPr>
          <p:cNvSpPr txBox="1"/>
          <p:nvPr/>
        </p:nvSpPr>
        <p:spPr>
          <a:xfrm>
            <a:off x="65401" y="4107835"/>
            <a:ext cx="11850079" cy="2693045"/>
          </a:xfrm>
          <a:prstGeom prst="rect">
            <a:avLst/>
          </a:prstGeom>
          <a:solidFill>
            <a:srgbClr val="FDFAF6"/>
          </a:solidFill>
        </p:spPr>
        <p:txBody>
          <a:bodyPr wrap="square">
            <a:spAutoFit/>
          </a:bodyPr>
          <a:lstStyle/>
          <a:p>
            <a:pPr algn="just"/>
            <a:r>
              <a:rPr lang="en-IN" sz="1300" b="1" dirty="0"/>
              <a:t>Key Findings:</a:t>
            </a:r>
          </a:p>
          <a:p>
            <a:pPr algn="just"/>
            <a:endParaRPr lang="en-IN" sz="1300" b="1" dirty="0"/>
          </a:p>
          <a:p>
            <a:pPr marL="285750" indent="-285750" algn="just">
              <a:buFont typeface="Arial" panose="020B0604020202020204" pitchFamily="34" charset="0"/>
              <a:buChar char="•"/>
            </a:pPr>
            <a:r>
              <a:rPr lang="en-IN" sz="1300" b="1" dirty="0"/>
              <a:t>MCODE clustering identifies a transcriptional-endocrine regulatory module dominated by histone variants, RNA polymerase II subunits, and ribosomal proteins.</a:t>
            </a:r>
          </a:p>
          <a:p>
            <a:pPr marL="285750" indent="-285750" algn="just">
              <a:buFont typeface="Arial" panose="020B0604020202020204" pitchFamily="34" charset="0"/>
              <a:buChar char="•"/>
            </a:pPr>
            <a:endParaRPr lang="en-IN" sz="1300" b="1" dirty="0"/>
          </a:p>
          <a:p>
            <a:pPr marL="285750" indent="-285750" algn="just">
              <a:buFont typeface="Arial" panose="020B0604020202020204" pitchFamily="34" charset="0"/>
              <a:buChar char="•"/>
            </a:pPr>
            <a:r>
              <a:rPr lang="en-IN" sz="1300" b="1" dirty="0"/>
              <a:t>In fact, high-density interactions among histones and polymerase components indicate epigenetic dysregulation and altered chromatin architecture in ovarian tissue from PCOS.</a:t>
            </a:r>
          </a:p>
          <a:p>
            <a:pPr marL="285750" indent="-285750" algn="just">
              <a:buFont typeface="Arial" panose="020B0604020202020204" pitchFamily="34" charset="0"/>
              <a:buChar char="•"/>
            </a:pPr>
            <a:endParaRPr lang="en-IN" sz="1300" b="1" dirty="0"/>
          </a:p>
          <a:p>
            <a:pPr marL="285750" indent="-285750" algn="just">
              <a:buFont typeface="Arial" panose="020B0604020202020204" pitchFamily="34" charset="0"/>
              <a:buChar char="•"/>
            </a:pPr>
            <a:r>
              <a:rPr lang="en-IN" sz="1300" b="1" dirty="0"/>
              <a:t>The ribosomal proteins RPL31, RPL13, and RPS12 emerge as structural hubs, indicating disrupted translational machinery and impaired control of protein synthesis.</a:t>
            </a:r>
          </a:p>
          <a:p>
            <a:pPr marL="285750" indent="-285750" algn="just">
              <a:buFont typeface="Arial" panose="020B0604020202020204" pitchFamily="34" charset="0"/>
              <a:buChar char="•"/>
            </a:pPr>
            <a:endParaRPr lang="en-IN" sz="1300" b="1" dirty="0"/>
          </a:p>
          <a:p>
            <a:pPr marL="285750" indent="-285750" algn="just">
              <a:buFont typeface="Arial" panose="020B0604020202020204" pitchFamily="34" charset="0"/>
              <a:buChar char="•"/>
            </a:pPr>
            <a:r>
              <a:rPr lang="en-IN" sz="1300" b="1" dirty="0"/>
              <a:t>Gene-family enrichment confirms overrepresentation of the histone, ribosomal, and POLR2 gene families, supporting a global transcriptional </a:t>
            </a:r>
            <a:r>
              <a:rPr lang="en-IN" sz="1300" b="1" dirty="0" err="1"/>
              <a:t>remodeling</a:t>
            </a:r>
            <a:r>
              <a:rPr lang="en-IN" sz="1300" b="1" dirty="0"/>
              <a:t> phenotype rather than isolated gene-level changes. </a:t>
            </a:r>
          </a:p>
        </p:txBody>
      </p:sp>
    </p:spTree>
    <p:extLst>
      <p:ext uri="{BB962C8B-B14F-4D97-AF65-F5344CB8AC3E}">
        <p14:creationId xmlns:p14="http://schemas.microsoft.com/office/powerpoint/2010/main" val="37051333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299287" y="285614"/>
            <a:ext cx="7796464" cy="416756"/>
          </a:xfrm>
        </p:spPr>
        <p:txBody>
          <a:bodyPr/>
          <a:lstStyle/>
          <a:p>
            <a:pPr>
              <a:lnSpc>
                <a:spcPct val="107000"/>
              </a:lnSpc>
              <a:spcAft>
                <a:spcPts val="800"/>
              </a:spcAft>
            </a:pPr>
            <a:r>
              <a:rPr lang="en-IN" sz="3200" b="1" kern="1800" dirty="0">
                <a:effectLst/>
                <a:latin typeface="Times New Roman" panose="02020603050405020304" pitchFamily="18" charset="0"/>
                <a:ea typeface="Times New Roman" panose="02020603050405020304" pitchFamily="18" charset="0"/>
              </a:rPr>
              <a:t>10. Integrated Model</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21</a:t>
            </a:fld>
            <a:endParaRPr lang="en-US" dirty="0"/>
          </a:p>
        </p:txBody>
      </p:sp>
      <p:pic>
        <p:nvPicPr>
          <p:cNvPr id="10" name="Picture 9">
            <a:extLst>
              <a:ext uri="{FF2B5EF4-FFF2-40B4-BE49-F238E27FC236}">
                <a16:creationId xmlns:a16="http://schemas.microsoft.com/office/drawing/2014/main" id="{5DB41E4E-79ED-4F12-BB99-C28409B46EA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4136"/>
          <a:stretch/>
        </p:blipFill>
        <p:spPr bwMode="auto">
          <a:xfrm>
            <a:off x="2518528" y="707088"/>
            <a:ext cx="7154944" cy="3857977"/>
          </a:xfrm>
          <a:prstGeom prst="rect">
            <a:avLst/>
          </a:prstGeom>
          <a:ln>
            <a:noFill/>
          </a:ln>
          <a:extLst>
            <a:ext uri="{53640926-AAD7-44D8-BBD7-CCE9431645EC}">
              <a14:shadowObscured xmlns:a14="http://schemas.microsoft.com/office/drawing/2010/main"/>
            </a:ext>
          </a:extLst>
        </p:spPr>
      </p:pic>
      <p:sp>
        <p:nvSpPr>
          <p:cNvPr id="14" name="TextBox 13">
            <a:extLst>
              <a:ext uri="{FF2B5EF4-FFF2-40B4-BE49-F238E27FC236}">
                <a16:creationId xmlns:a16="http://schemas.microsoft.com/office/drawing/2014/main" id="{6ECDB5A9-D7CF-4A67-8074-3C7E929C011F}"/>
              </a:ext>
            </a:extLst>
          </p:cNvPr>
          <p:cNvSpPr txBox="1"/>
          <p:nvPr/>
        </p:nvSpPr>
        <p:spPr>
          <a:xfrm>
            <a:off x="-53558" y="4565065"/>
            <a:ext cx="12192000" cy="2292935"/>
          </a:xfrm>
          <a:prstGeom prst="rect">
            <a:avLst/>
          </a:prstGeom>
          <a:noFill/>
        </p:spPr>
        <p:txBody>
          <a:bodyPr wrap="square">
            <a:spAutoFit/>
          </a:bodyPr>
          <a:lstStyle/>
          <a:p>
            <a:pPr marL="285750" indent="-285750" algn="just">
              <a:buFont typeface="Wingdings" panose="05000000000000000000" pitchFamily="2" charset="2"/>
              <a:buChar char="Ø"/>
            </a:pPr>
            <a:r>
              <a:rPr lang="en-IN" sz="1300" dirty="0"/>
              <a:t>From an integrative analysis, two dominant functional axes emerge:</a:t>
            </a:r>
          </a:p>
          <a:p>
            <a:pPr algn="just"/>
            <a:r>
              <a:rPr lang="en-IN" sz="1300" dirty="0"/>
              <a:t>       (1) Adipose - Metabolism Axis; and (2) the Ovarian–Transcriptional - Endocrine Axis.</a:t>
            </a:r>
          </a:p>
          <a:p>
            <a:pPr algn="just"/>
            <a:endParaRPr lang="en-IN" sz="1300" dirty="0"/>
          </a:p>
          <a:p>
            <a:pPr marL="285750" indent="-285750" algn="just">
              <a:buFont typeface="Wingdings" panose="05000000000000000000" pitchFamily="2" charset="2"/>
              <a:buChar char="Ø"/>
            </a:pPr>
            <a:r>
              <a:rPr lang="en-IN" sz="1300" dirty="0"/>
              <a:t>Dysregulation of the following drives the metabolic axis: fatty acid oxidation, acetyl-CoA metabolism, mitochondrial energy flow, lipid transport, and cholesterol metabolism change, reflecting systemic metabolic inflexibility in PCOS.</a:t>
            </a:r>
          </a:p>
          <a:p>
            <a:pPr algn="just"/>
            <a:endParaRPr lang="en-IN" sz="1300" dirty="0"/>
          </a:p>
          <a:p>
            <a:pPr marL="285750" indent="-285750" algn="just">
              <a:buFont typeface="Wingdings" panose="05000000000000000000" pitchFamily="2" charset="2"/>
              <a:buChar char="Ø"/>
            </a:pPr>
            <a:r>
              <a:rPr lang="en-IN" sz="1300" dirty="0"/>
              <a:t>The Endocrine Axis, in this context, represents disruptions in: Chromatin </a:t>
            </a:r>
            <a:r>
              <a:rPr lang="en-IN" sz="1300" dirty="0" err="1"/>
              <a:t>remodeling</a:t>
            </a:r>
            <a:r>
              <a:rPr lang="en-IN" sz="1300" dirty="0"/>
              <a:t>, histone regulation, RNA polymerase II activity, ribosomal protein synthesis, and transcriptional machinery showed an imbalanced situation, indicating deep endocrine and gene-regulatory imbalance.</a:t>
            </a:r>
          </a:p>
          <a:p>
            <a:pPr algn="just"/>
            <a:endParaRPr lang="en-IN" sz="1300" dirty="0"/>
          </a:p>
          <a:p>
            <a:pPr marL="285750" indent="-285750" algn="just">
              <a:buFont typeface="Wingdings" panose="05000000000000000000" pitchFamily="2" charset="2"/>
              <a:buChar char="Ø"/>
            </a:pPr>
            <a:r>
              <a:rPr lang="en-IN" sz="1300" dirty="0"/>
              <a:t>It is evident from the contribution score pattern that both axes together shape the biology of PCOS, confirming that PCOS is not a single-pathway disorder but rather a multi-axis condition involving metabolic stress and endocrine/transcriptional dysfunction.</a:t>
            </a:r>
          </a:p>
        </p:txBody>
      </p:sp>
    </p:spTree>
    <p:extLst>
      <p:ext uri="{BB962C8B-B14F-4D97-AF65-F5344CB8AC3E}">
        <p14:creationId xmlns:p14="http://schemas.microsoft.com/office/powerpoint/2010/main" val="24685957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5385A2D-34D9-4777-9893-2B57735054DB}"/>
              </a:ext>
            </a:extLst>
          </p:cNvPr>
          <p:cNvSpPr>
            <a:spLocks noGrp="1"/>
          </p:cNvSpPr>
          <p:nvPr>
            <p:ph type="sldNum" sz="quarter" idx="4294967295"/>
          </p:nvPr>
        </p:nvSpPr>
        <p:spPr>
          <a:xfrm>
            <a:off x="11204575" y="457200"/>
            <a:ext cx="987425" cy="471488"/>
          </a:xfrm>
        </p:spPr>
        <p:txBody>
          <a:bodyPr/>
          <a:lstStyle/>
          <a:p>
            <a:fld id="{48F63A3B-78C7-47BE-AE5E-E10140E04643}" type="slidenum">
              <a:rPr lang="en-US" smtClean="0"/>
              <a:pPr/>
              <a:t>22</a:t>
            </a:fld>
            <a:endParaRPr lang="en-US" dirty="0"/>
          </a:p>
        </p:txBody>
      </p:sp>
      <p:sp>
        <p:nvSpPr>
          <p:cNvPr id="10" name="TextBox 9">
            <a:extLst>
              <a:ext uri="{FF2B5EF4-FFF2-40B4-BE49-F238E27FC236}">
                <a16:creationId xmlns:a16="http://schemas.microsoft.com/office/drawing/2014/main" id="{BF9A0756-9A68-4C13-836B-C9BA90A26AF1}"/>
              </a:ext>
            </a:extLst>
          </p:cNvPr>
          <p:cNvSpPr txBox="1"/>
          <p:nvPr/>
        </p:nvSpPr>
        <p:spPr>
          <a:xfrm>
            <a:off x="570322" y="462061"/>
            <a:ext cx="6155702" cy="584775"/>
          </a:xfrm>
          <a:prstGeom prst="rect">
            <a:avLst/>
          </a:prstGeom>
          <a:noFill/>
        </p:spPr>
        <p:txBody>
          <a:bodyPr wrap="square">
            <a:spAutoFit/>
          </a:bodyPr>
          <a:lstStyle/>
          <a:p>
            <a:r>
              <a:rPr lang="en-IN" sz="3200" b="1" dirty="0">
                <a:solidFill>
                  <a:schemeClr val="accent6"/>
                </a:solidFill>
              </a:rPr>
              <a:t>Graphical Workflow</a:t>
            </a:r>
          </a:p>
        </p:txBody>
      </p:sp>
      <p:pic>
        <p:nvPicPr>
          <p:cNvPr id="13" name="Picture 12">
            <a:extLst>
              <a:ext uri="{FF2B5EF4-FFF2-40B4-BE49-F238E27FC236}">
                <a16:creationId xmlns:a16="http://schemas.microsoft.com/office/drawing/2014/main" id="{7DE94007-7D18-4B20-9BA8-DCBF348EF04D}"/>
              </a:ext>
            </a:extLst>
          </p:cNvPr>
          <p:cNvPicPr>
            <a:picLocks noChangeAspect="1"/>
          </p:cNvPicPr>
          <p:nvPr/>
        </p:nvPicPr>
        <p:blipFill>
          <a:blip r:embed="rId2"/>
          <a:stretch>
            <a:fillRect/>
          </a:stretch>
        </p:blipFill>
        <p:spPr>
          <a:xfrm>
            <a:off x="5976594" y="1630034"/>
            <a:ext cx="5975890" cy="3900348"/>
          </a:xfrm>
          <a:prstGeom prst="rect">
            <a:avLst/>
          </a:prstGeom>
        </p:spPr>
      </p:pic>
      <p:sp>
        <p:nvSpPr>
          <p:cNvPr id="16" name="TextBox 15">
            <a:extLst>
              <a:ext uri="{FF2B5EF4-FFF2-40B4-BE49-F238E27FC236}">
                <a16:creationId xmlns:a16="http://schemas.microsoft.com/office/drawing/2014/main" id="{DEE9D6FE-F0C2-4000-BF3A-E6C4FA98FB43}"/>
              </a:ext>
            </a:extLst>
          </p:cNvPr>
          <p:cNvSpPr txBox="1"/>
          <p:nvPr/>
        </p:nvSpPr>
        <p:spPr>
          <a:xfrm>
            <a:off x="5729140" y="5530382"/>
            <a:ext cx="6470797" cy="523220"/>
          </a:xfrm>
          <a:prstGeom prst="rect">
            <a:avLst/>
          </a:prstGeom>
          <a:noFill/>
        </p:spPr>
        <p:txBody>
          <a:bodyPr wrap="square">
            <a:spAutoFit/>
          </a:bodyPr>
          <a:lstStyle/>
          <a:p>
            <a:pPr algn="ctr"/>
            <a:r>
              <a:rPr lang="en-US" sz="1400" b="1" dirty="0"/>
              <a:t>Overview of the computational workflow used to identify PCOS molecular signatures through Sankey Diagram</a:t>
            </a:r>
            <a:endParaRPr lang="en-IN" sz="1400" b="1" dirty="0"/>
          </a:p>
        </p:txBody>
      </p:sp>
      <p:sp>
        <p:nvSpPr>
          <p:cNvPr id="18" name="TextBox 17">
            <a:extLst>
              <a:ext uri="{FF2B5EF4-FFF2-40B4-BE49-F238E27FC236}">
                <a16:creationId xmlns:a16="http://schemas.microsoft.com/office/drawing/2014/main" id="{DFDEB121-3258-4A81-977A-B95A48EA3F97}"/>
              </a:ext>
            </a:extLst>
          </p:cNvPr>
          <p:cNvSpPr txBox="1"/>
          <p:nvPr/>
        </p:nvSpPr>
        <p:spPr>
          <a:xfrm>
            <a:off x="509048" y="1079333"/>
            <a:ext cx="5467546" cy="5478423"/>
          </a:xfrm>
          <a:prstGeom prst="rect">
            <a:avLst/>
          </a:prstGeom>
          <a:noFill/>
        </p:spPr>
        <p:txBody>
          <a:bodyPr wrap="square">
            <a:spAutoFit/>
          </a:bodyPr>
          <a:lstStyle/>
          <a:p>
            <a:pPr marL="285750" indent="-285750">
              <a:buFont typeface="Wingdings" panose="05000000000000000000" pitchFamily="2" charset="2"/>
              <a:buChar char="Ø"/>
            </a:pPr>
            <a:r>
              <a:rPr lang="en-US" sz="1400" dirty="0"/>
              <a:t>Four transcriptomic datasets were included:</a:t>
            </a:r>
            <a:endParaRPr lang="en-IN" sz="1400" dirty="0"/>
          </a:p>
          <a:p>
            <a:pPr marL="742950" lvl="1" indent="-285750">
              <a:buFont typeface="Arial" panose="020B0604020202020204" pitchFamily="34" charset="0"/>
              <a:buChar char="•"/>
            </a:pPr>
            <a:r>
              <a:rPr lang="en-IN" sz="1400" dirty="0"/>
              <a:t>GSE98421 (Adipose tissue; microarray)</a:t>
            </a:r>
          </a:p>
          <a:p>
            <a:pPr marL="742950" lvl="1" indent="-285750">
              <a:buFont typeface="Arial" panose="020B0604020202020204" pitchFamily="34" charset="0"/>
              <a:buChar char="•"/>
            </a:pPr>
            <a:r>
              <a:rPr lang="en-IN" sz="1400" dirty="0"/>
              <a:t>GSE277906 (Reproductive/Metabolic tissue; RNA-</a:t>
            </a:r>
            <a:r>
              <a:rPr lang="en-IN" sz="1400" dirty="0" err="1"/>
              <a:t>seq</a:t>
            </a:r>
            <a:r>
              <a:rPr lang="en-IN" sz="1400" dirty="0"/>
              <a:t>)</a:t>
            </a:r>
          </a:p>
          <a:p>
            <a:pPr marL="742950" lvl="1" indent="-285750">
              <a:buFont typeface="Arial" panose="020B0604020202020204" pitchFamily="34" charset="0"/>
              <a:buChar char="•"/>
            </a:pPr>
            <a:r>
              <a:rPr lang="en-IN" sz="1400" dirty="0"/>
              <a:t>GSE114419 (Endometrium; control-only, excluded)</a:t>
            </a:r>
          </a:p>
          <a:p>
            <a:pPr marL="742950" lvl="1" indent="-285750">
              <a:buFont typeface="Arial" panose="020B0604020202020204" pitchFamily="34" charset="0"/>
              <a:buChar char="•"/>
            </a:pPr>
            <a:r>
              <a:rPr lang="en-IN" sz="1400" dirty="0"/>
              <a:t>GSE137684 (Ovary; missing disease labels, excluded)</a:t>
            </a:r>
          </a:p>
          <a:p>
            <a:endParaRPr lang="en-IN" sz="1400" dirty="0"/>
          </a:p>
          <a:p>
            <a:pPr marL="285750" indent="-285750">
              <a:buFont typeface="Wingdings" panose="05000000000000000000" pitchFamily="2" charset="2"/>
              <a:buChar char="Ø"/>
            </a:pPr>
            <a:r>
              <a:rPr lang="en-IN" sz="1400" dirty="0"/>
              <a:t>Quality assessment was performed on all datasets.</a:t>
            </a:r>
          </a:p>
          <a:p>
            <a:pPr marL="285750" indent="-285750">
              <a:buFont typeface="Wingdings" panose="05000000000000000000" pitchFamily="2" charset="2"/>
              <a:buChar char="Ø"/>
            </a:pPr>
            <a:r>
              <a:rPr lang="en-IN" sz="1400" dirty="0"/>
              <a:t>Only GSE98421 and GSE277906 fulfilled the necessary requirements for valid case–control differential expression analysis.</a:t>
            </a:r>
          </a:p>
          <a:p>
            <a:pPr marL="285750" indent="-285750">
              <a:buFont typeface="Wingdings" panose="05000000000000000000" pitchFamily="2" charset="2"/>
              <a:buChar char="Ø"/>
            </a:pPr>
            <a:r>
              <a:rPr lang="en-IN" sz="1400" dirty="0"/>
              <a:t>These two dataset's DEGs were subjected to GO Biological Process and KEGG Pathway enrichment.</a:t>
            </a:r>
          </a:p>
          <a:p>
            <a:endParaRPr lang="en-IN" sz="1400" dirty="0"/>
          </a:p>
          <a:p>
            <a:pPr marL="285750" indent="-285750">
              <a:buFont typeface="Wingdings" panose="05000000000000000000" pitchFamily="2" charset="2"/>
              <a:buChar char="Ø"/>
            </a:pPr>
            <a:r>
              <a:rPr lang="en-IN" sz="1400" dirty="0"/>
              <a:t>Two dominant functional modules were interpreted from the interaction networks built using STRING and clustered with MCODE:</a:t>
            </a:r>
          </a:p>
          <a:p>
            <a:endParaRPr lang="en-IN" sz="1400" dirty="0"/>
          </a:p>
          <a:p>
            <a:pPr marL="742950" lvl="1" indent="-285750">
              <a:buFont typeface="Wingdings" panose="05000000000000000000" pitchFamily="2" charset="2"/>
              <a:buChar char="§"/>
            </a:pPr>
            <a:r>
              <a:rPr lang="en-IN" sz="1400" dirty="0"/>
              <a:t>Metabolic Axis: Adipose-derived metabolic dysfunction</a:t>
            </a:r>
          </a:p>
          <a:p>
            <a:pPr marL="742950" lvl="1" indent="-285750">
              <a:buFont typeface="Wingdings" panose="05000000000000000000" pitchFamily="2" charset="2"/>
              <a:buChar char="§"/>
            </a:pPr>
            <a:r>
              <a:rPr lang="en-IN" sz="1400" dirty="0"/>
              <a:t>Endocrine–Transcriptional Axis: Ovary-derived transcriptional/epigenetic dysfunction </a:t>
            </a:r>
          </a:p>
          <a:p>
            <a:endParaRPr lang="en-IN" sz="1400" dirty="0"/>
          </a:p>
          <a:p>
            <a:r>
              <a:rPr lang="en-IN" sz="1400" dirty="0"/>
              <a:t>The Sankey diagram shows that each step of analysis-dataset filtering, QC, DEG identification, enrichment, and network clustering-is progressively leading to an integrated systems-level interpretation of the pathophysiology of PCOS.</a:t>
            </a:r>
          </a:p>
        </p:txBody>
      </p:sp>
    </p:spTree>
    <p:extLst>
      <p:ext uri="{BB962C8B-B14F-4D97-AF65-F5344CB8AC3E}">
        <p14:creationId xmlns:p14="http://schemas.microsoft.com/office/powerpoint/2010/main" val="3672598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5385A2D-34D9-4777-9893-2B57735054DB}"/>
              </a:ext>
            </a:extLst>
          </p:cNvPr>
          <p:cNvSpPr>
            <a:spLocks noGrp="1"/>
          </p:cNvSpPr>
          <p:nvPr>
            <p:ph type="sldNum" sz="quarter" idx="4294967295"/>
          </p:nvPr>
        </p:nvSpPr>
        <p:spPr>
          <a:xfrm>
            <a:off x="11204575" y="457200"/>
            <a:ext cx="987425" cy="471488"/>
          </a:xfrm>
        </p:spPr>
        <p:txBody>
          <a:bodyPr/>
          <a:lstStyle/>
          <a:p>
            <a:fld id="{48F63A3B-78C7-47BE-AE5E-E10140E04643}" type="slidenum">
              <a:rPr lang="en-US" smtClean="0"/>
              <a:pPr/>
              <a:t>23</a:t>
            </a:fld>
            <a:endParaRPr lang="en-US" dirty="0"/>
          </a:p>
        </p:txBody>
      </p:sp>
      <p:sp>
        <p:nvSpPr>
          <p:cNvPr id="10" name="TextBox 9">
            <a:extLst>
              <a:ext uri="{FF2B5EF4-FFF2-40B4-BE49-F238E27FC236}">
                <a16:creationId xmlns:a16="http://schemas.microsoft.com/office/drawing/2014/main" id="{BF9A0756-9A68-4C13-836B-C9BA90A26AF1}"/>
              </a:ext>
            </a:extLst>
          </p:cNvPr>
          <p:cNvSpPr txBox="1"/>
          <p:nvPr/>
        </p:nvSpPr>
        <p:spPr>
          <a:xfrm>
            <a:off x="909687" y="636300"/>
            <a:ext cx="6155702" cy="584775"/>
          </a:xfrm>
          <a:prstGeom prst="rect">
            <a:avLst/>
          </a:prstGeom>
          <a:noFill/>
        </p:spPr>
        <p:txBody>
          <a:bodyPr wrap="square">
            <a:spAutoFit/>
          </a:bodyPr>
          <a:lstStyle/>
          <a:p>
            <a:r>
              <a:rPr lang="en-IN" sz="3200" b="1" dirty="0">
                <a:solidFill>
                  <a:schemeClr val="accent6"/>
                </a:solidFill>
              </a:rPr>
              <a:t>Graphical Summary</a:t>
            </a:r>
          </a:p>
        </p:txBody>
      </p:sp>
      <p:pic>
        <p:nvPicPr>
          <p:cNvPr id="6" name="Picture 5">
            <a:extLst>
              <a:ext uri="{FF2B5EF4-FFF2-40B4-BE49-F238E27FC236}">
                <a16:creationId xmlns:a16="http://schemas.microsoft.com/office/drawing/2014/main" id="{0ED726E3-5707-47F4-A423-431A50A5AB8A}"/>
              </a:ext>
            </a:extLst>
          </p:cNvPr>
          <p:cNvPicPr>
            <a:picLocks noChangeAspect="1"/>
          </p:cNvPicPr>
          <p:nvPr/>
        </p:nvPicPr>
        <p:blipFill rotWithShape="1">
          <a:blip r:embed="rId2"/>
          <a:srcRect t="4811" b="5155"/>
          <a:stretch/>
        </p:blipFill>
        <p:spPr>
          <a:xfrm>
            <a:off x="391213" y="1221074"/>
            <a:ext cx="4798244" cy="4320069"/>
          </a:xfrm>
          <a:prstGeom prst="rect">
            <a:avLst/>
          </a:prstGeom>
        </p:spPr>
      </p:pic>
      <p:sp>
        <p:nvSpPr>
          <p:cNvPr id="8" name="TextBox 7">
            <a:extLst>
              <a:ext uri="{FF2B5EF4-FFF2-40B4-BE49-F238E27FC236}">
                <a16:creationId xmlns:a16="http://schemas.microsoft.com/office/drawing/2014/main" id="{66DA9A18-A25D-4996-A90D-5355BAD8B67F}"/>
              </a:ext>
            </a:extLst>
          </p:cNvPr>
          <p:cNvSpPr txBox="1"/>
          <p:nvPr/>
        </p:nvSpPr>
        <p:spPr>
          <a:xfrm>
            <a:off x="306372" y="5636926"/>
            <a:ext cx="5190240" cy="646331"/>
          </a:xfrm>
          <a:prstGeom prst="rect">
            <a:avLst/>
          </a:prstGeom>
          <a:noFill/>
        </p:spPr>
        <p:txBody>
          <a:bodyPr wrap="square">
            <a:spAutoFit/>
          </a:bodyPr>
          <a:lstStyle/>
          <a:p>
            <a:pPr algn="ctr"/>
            <a:r>
              <a:rPr lang="en-US" b="1" dirty="0"/>
              <a:t>Integrated </a:t>
            </a:r>
            <a:r>
              <a:rPr lang="en-US" b="1" dirty="0" err="1"/>
              <a:t>Circos</a:t>
            </a:r>
            <a:r>
              <a:rPr lang="en-US" b="1" dirty="0"/>
              <a:t> model summarizing the molecular axes driving PCOS.</a:t>
            </a:r>
            <a:endParaRPr lang="en-IN" b="1" dirty="0"/>
          </a:p>
        </p:txBody>
      </p:sp>
      <p:sp>
        <p:nvSpPr>
          <p:cNvPr id="11" name="TextBox 10">
            <a:extLst>
              <a:ext uri="{FF2B5EF4-FFF2-40B4-BE49-F238E27FC236}">
                <a16:creationId xmlns:a16="http://schemas.microsoft.com/office/drawing/2014/main" id="{2959B345-017C-45B6-BE08-6E7216E4708C}"/>
              </a:ext>
            </a:extLst>
          </p:cNvPr>
          <p:cNvSpPr txBox="1"/>
          <p:nvPr/>
        </p:nvSpPr>
        <p:spPr>
          <a:xfrm>
            <a:off x="5189457" y="1424694"/>
            <a:ext cx="6499780" cy="3293209"/>
          </a:xfrm>
          <a:prstGeom prst="rect">
            <a:avLst/>
          </a:prstGeom>
          <a:noFill/>
        </p:spPr>
        <p:txBody>
          <a:bodyPr wrap="square">
            <a:spAutoFit/>
          </a:bodyPr>
          <a:lstStyle/>
          <a:p>
            <a:pPr marL="285750" indent="-285750" algn="just">
              <a:buFont typeface="Arial" panose="020B0604020202020204" pitchFamily="34" charset="0"/>
              <a:buChar char="•"/>
            </a:pPr>
            <a:r>
              <a:rPr lang="en-IN" sz="1600" dirty="0"/>
              <a:t>The graph shows the Metabolic (left side) and Endocrine/Transcriptional (right side) Aspects of PCOS. The left half of the graph shows the Metabolic Axis (Adipose tissue), including genes that are involved in fatty-acid oxidation and mitochondrial energy-circuit functions (ACADSB, ACOX1, ACAT1/2, ACSS2, ACADS). The right half of the graph shows the Endocrine/Transcriptional Axis (Ovarian tissue), including chromatin, transcriptional regulators/</a:t>
            </a:r>
            <a:r>
              <a:rPr lang="en-IN" sz="1600" dirty="0" err="1"/>
              <a:t>opregulators</a:t>
            </a:r>
            <a:r>
              <a:rPr lang="en-IN" sz="1600" dirty="0"/>
              <a:t>, and ribosomal components (H2AC12, H3C2, H4C6, POLR2F, POLR2H, and RPL31).</a:t>
            </a:r>
          </a:p>
          <a:p>
            <a:pPr algn="just"/>
            <a:endParaRPr lang="en-IN" sz="1600" dirty="0"/>
          </a:p>
          <a:p>
            <a:pPr marL="285750" indent="-285750" algn="just">
              <a:buFont typeface="Arial" panose="020B0604020202020204" pitchFamily="34" charset="0"/>
              <a:buChar char="•"/>
            </a:pPr>
            <a:r>
              <a:rPr lang="en-IN" sz="1600" dirty="0"/>
              <a:t>In summary, this picture provides evidence of the idea that PCOS is a systems-level disorder that results from interactions between metabolic stress and endocrine/transcription dysregulation.</a:t>
            </a:r>
          </a:p>
        </p:txBody>
      </p:sp>
      <p:sp>
        <p:nvSpPr>
          <p:cNvPr id="14" name="TextBox 13">
            <a:extLst>
              <a:ext uri="{FF2B5EF4-FFF2-40B4-BE49-F238E27FC236}">
                <a16:creationId xmlns:a16="http://schemas.microsoft.com/office/drawing/2014/main" id="{3226A7AD-D5E2-4A14-A224-9C95C8DA9F4F}"/>
              </a:ext>
            </a:extLst>
          </p:cNvPr>
          <p:cNvSpPr txBox="1"/>
          <p:nvPr/>
        </p:nvSpPr>
        <p:spPr>
          <a:xfrm>
            <a:off x="5189457" y="5213909"/>
            <a:ext cx="5566528" cy="954107"/>
          </a:xfrm>
          <a:prstGeom prst="rect">
            <a:avLst/>
          </a:prstGeom>
          <a:noFill/>
          <a:ln>
            <a:solidFill>
              <a:schemeClr val="tx1"/>
            </a:solidFill>
          </a:ln>
        </p:spPr>
        <p:txBody>
          <a:bodyPr wrap="square">
            <a:spAutoFit/>
          </a:bodyPr>
          <a:lstStyle/>
          <a:p>
            <a:pPr marL="285750" indent="-285750" algn="just">
              <a:buFont typeface="Wingdings" panose="05000000000000000000" pitchFamily="2" charset="2"/>
              <a:buChar char="ü"/>
            </a:pPr>
            <a:r>
              <a:rPr lang="en-IN" sz="1400" dirty="0"/>
              <a:t>Pink Line</a:t>
            </a:r>
            <a:r>
              <a:rPr lang="en-IN" sz="1400" b="0" i="0" dirty="0">
                <a:solidFill>
                  <a:srgbClr val="0A0A0A"/>
                </a:solidFill>
                <a:effectLst/>
                <a:latin typeface="Google Sans"/>
              </a:rPr>
              <a:t>→ </a:t>
            </a:r>
            <a:r>
              <a:rPr lang="en-IN" sz="1400" dirty="0"/>
              <a:t>PCOS has a Connection to Cortisol </a:t>
            </a:r>
            <a:r>
              <a:rPr lang="en-IN" sz="1400" dirty="0" err="1"/>
              <a:t>Signaling</a:t>
            </a:r>
            <a:endParaRPr lang="en-IN" sz="1400" dirty="0"/>
          </a:p>
          <a:p>
            <a:pPr marL="285750" indent="-285750" algn="just">
              <a:buFont typeface="Wingdings" panose="05000000000000000000" pitchFamily="2" charset="2"/>
              <a:buChar char="ü"/>
            </a:pPr>
            <a:r>
              <a:rPr lang="en-IN" sz="1400" dirty="0"/>
              <a:t>Red Line </a:t>
            </a:r>
            <a:r>
              <a:rPr lang="en-IN" sz="1400" b="0" i="0" dirty="0">
                <a:solidFill>
                  <a:srgbClr val="0A0A0A"/>
                </a:solidFill>
                <a:effectLst/>
                <a:latin typeface="Google Sans"/>
              </a:rPr>
              <a:t>→ </a:t>
            </a:r>
            <a:r>
              <a:rPr lang="en-IN" sz="1400" dirty="0"/>
              <a:t>PCOS has a Connection to Inflammatory Processes </a:t>
            </a:r>
          </a:p>
          <a:p>
            <a:pPr marL="285750" indent="-285750" algn="just">
              <a:buFont typeface="Wingdings" panose="05000000000000000000" pitchFamily="2" charset="2"/>
              <a:buChar char="ü"/>
            </a:pPr>
            <a:r>
              <a:rPr lang="en-IN" sz="1400" dirty="0"/>
              <a:t>Teal Line </a:t>
            </a:r>
            <a:r>
              <a:rPr lang="en-IN" sz="1400" b="0" i="0" dirty="0">
                <a:solidFill>
                  <a:srgbClr val="0A0A0A"/>
                </a:solidFill>
                <a:effectLst/>
                <a:latin typeface="Google Sans"/>
              </a:rPr>
              <a:t>→ </a:t>
            </a:r>
            <a:r>
              <a:rPr lang="en-IN" sz="1400" dirty="0"/>
              <a:t>PCOS has a Connection to MAPK </a:t>
            </a:r>
            <a:r>
              <a:rPr lang="en-IN" sz="1400" dirty="0" err="1"/>
              <a:t>Signaling</a:t>
            </a:r>
            <a:r>
              <a:rPr lang="en-IN" sz="1400" dirty="0"/>
              <a:t>; </a:t>
            </a:r>
          </a:p>
          <a:p>
            <a:pPr marL="285750" indent="-285750" algn="just">
              <a:buFont typeface="Wingdings" panose="05000000000000000000" pitchFamily="2" charset="2"/>
              <a:buChar char="ü"/>
            </a:pPr>
            <a:r>
              <a:rPr lang="en-IN" sz="1400" dirty="0"/>
              <a:t>Purple Line </a:t>
            </a:r>
            <a:r>
              <a:rPr lang="en-IN" sz="1400" b="0" i="0" dirty="0">
                <a:solidFill>
                  <a:srgbClr val="0A0A0A"/>
                </a:solidFill>
                <a:effectLst/>
                <a:latin typeface="Google Sans"/>
              </a:rPr>
              <a:t>→ </a:t>
            </a:r>
            <a:r>
              <a:rPr lang="en-IN" sz="1400" dirty="0"/>
              <a:t>PCOS has a Connection to Cytokine </a:t>
            </a:r>
            <a:r>
              <a:rPr lang="en-IN" sz="1400" dirty="0" err="1"/>
              <a:t>Signaling</a:t>
            </a:r>
            <a:r>
              <a:rPr lang="en-IN" sz="1400" dirty="0"/>
              <a:t>.</a:t>
            </a:r>
          </a:p>
        </p:txBody>
      </p:sp>
    </p:spTree>
    <p:extLst>
      <p:ext uri="{BB962C8B-B14F-4D97-AF65-F5344CB8AC3E}">
        <p14:creationId xmlns:p14="http://schemas.microsoft.com/office/powerpoint/2010/main" val="7197690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132174" y="1791093"/>
            <a:ext cx="7043617" cy="645755"/>
          </a:xfrm>
        </p:spPr>
        <p:txBody>
          <a:bodyPr/>
          <a:lstStyle/>
          <a:p>
            <a:r>
              <a:rPr lang="en-US" dirty="0">
                <a:latin typeface="+mn-lt"/>
              </a:rPr>
              <a:t>LIMITATIONS</a:t>
            </a:r>
          </a:p>
        </p:txBody>
      </p:sp>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p:txBody>
          <a:bodyPr/>
          <a:lstStyle/>
          <a:p>
            <a:fld id="{48F63A3B-78C7-47BE-AE5E-E10140E04643}" type="slidenum">
              <a:rPr lang="en-US" smtClean="0"/>
              <a:pPr/>
              <a:t>24</a:t>
            </a:fld>
            <a:endParaRPr lang="en-US" dirty="0"/>
          </a:p>
        </p:txBody>
      </p:sp>
      <p:sp>
        <p:nvSpPr>
          <p:cNvPr id="11" name="TextBox 10">
            <a:extLst>
              <a:ext uri="{FF2B5EF4-FFF2-40B4-BE49-F238E27FC236}">
                <a16:creationId xmlns:a16="http://schemas.microsoft.com/office/drawing/2014/main" id="{250CED40-3FC3-4D42-95D5-4E45D9E81E93}"/>
              </a:ext>
            </a:extLst>
          </p:cNvPr>
          <p:cNvSpPr txBox="1"/>
          <p:nvPr/>
        </p:nvSpPr>
        <p:spPr>
          <a:xfrm>
            <a:off x="3789573" y="1084929"/>
            <a:ext cx="8050493" cy="3693319"/>
          </a:xfrm>
          <a:prstGeom prst="rect">
            <a:avLst/>
          </a:prstGeom>
          <a:noFill/>
        </p:spPr>
        <p:txBody>
          <a:bodyPr wrap="square">
            <a:spAutoFit/>
          </a:bodyPr>
          <a:lstStyle/>
          <a:p>
            <a:pPr marL="285750" indent="-285750" algn="just">
              <a:buFont typeface="Arial" panose="020B0604020202020204" pitchFamily="34" charset="0"/>
              <a:buChar char="•"/>
            </a:pPr>
            <a:r>
              <a:rPr lang="en-US" dirty="0"/>
              <a:t>It is limited by several factors.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Small sample size in multiple microarray datasets reduces the statistical power.</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WGCNA module detection failed due to the low sample number, which limits resolution of the co-expression network.</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Incomplete or absent metadata restricted valid DEG comparisons, such as the absence of PCOS/control labels in GSE137684 and a control-only dataset in GSE114419.</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Dataset heterogeneity (different platforms, tissues, technologies) complicates cross-dataset integration.</a:t>
            </a:r>
            <a:endParaRPr lang="en-IN" dirty="0"/>
          </a:p>
        </p:txBody>
      </p:sp>
    </p:spTree>
    <p:extLst>
      <p:ext uri="{BB962C8B-B14F-4D97-AF65-F5344CB8AC3E}">
        <p14:creationId xmlns:p14="http://schemas.microsoft.com/office/powerpoint/2010/main" val="30945657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527899" y="282186"/>
            <a:ext cx="7843837" cy="669760"/>
          </a:xfrm>
        </p:spPr>
        <p:txBody>
          <a:bodyPr/>
          <a:lstStyle/>
          <a:p>
            <a:r>
              <a:rPr lang="en-US" dirty="0">
                <a:latin typeface="+mn-lt"/>
              </a:rPr>
              <a:t>FUTUTRE DIRECTIONS</a:t>
            </a:r>
          </a:p>
        </p:txBody>
      </p:sp>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25</a:t>
            </a:fld>
            <a:endParaRPr lang="en-US" dirty="0"/>
          </a:p>
        </p:txBody>
      </p:sp>
      <p:sp>
        <p:nvSpPr>
          <p:cNvPr id="11" name="TextBox 10">
            <a:extLst>
              <a:ext uri="{FF2B5EF4-FFF2-40B4-BE49-F238E27FC236}">
                <a16:creationId xmlns:a16="http://schemas.microsoft.com/office/drawing/2014/main" id="{250CED40-3FC3-4D42-95D5-4E45D9E81E93}"/>
              </a:ext>
            </a:extLst>
          </p:cNvPr>
          <p:cNvSpPr txBox="1"/>
          <p:nvPr/>
        </p:nvSpPr>
        <p:spPr>
          <a:xfrm>
            <a:off x="388069" y="1190236"/>
            <a:ext cx="11415862" cy="5324535"/>
          </a:xfrm>
          <a:prstGeom prst="rect">
            <a:avLst/>
          </a:prstGeom>
          <a:noFill/>
        </p:spPr>
        <p:txBody>
          <a:bodyPr wrap="square">
            <a:spAutoFit/>
          </a:bodyPr>
          <a:lstStyle/>
          <a:p>
            <a:pPr marL="285750" indent="-285750" algn="just">
              <a:buFont typeface="Arial" panose="020B0604020202020204" pitchFamily="34" charset="0"/>
              <a:buChar char="•"/>
            </a:pPr>
            <a:r>
              <a:rPr lang="en-US" sz="2000" b="0" i="0" dirty="0">
                <a:solidFill>
                  <a:srgbClr val="131417"/>
                </a:solidFill>
                <a:effectLst/>
                <a:ea typeface="MS Gothic" panose="020B0609070205080204" pitchFamily="49" charset="-128"/>
              </a:rPr>
              <a:t>The use of qPCR, WB and/or IHC techniques to experimentally validate important genes and pathways in PCOS using an animal model.</a:t>
            </a:r>
          </a:p>
          <a:p>
            <a:pPr algn="just"/>
            <a:endParaRPr lang="en-US" sz="2000" b="0" i="0" dirty="0">
              <a:solidFill>
                <a:srgbClr val="131417"/>
              </a:solidFill>
              <a:effectLst/>
              <a:ea typeface="MS Gothic" panose="020B0609070205080204" pitchFamily="49" charset="-128"/>
            </a:endParaRPr>
          </a:p>
          <a:p>
            <a:pPr marL="285750" indent="-285750" algn="just">
              <a:buFont typeface="Arial" panose="020B0604020202020204" pitchFamily="34" charset="0"/>
              <a:buChar char="•"/>
            </a:pPr>
            <a:r>
              <a:rPr lang="en-US" sz="2000" b="0" i="0" dirty="0">
                <a:solidFill>
                  <a:srgbClr val="131417"/>
                </a:solidFill>
                <a:effectLst/>
                <a:ea typeface="MS Gothic" panose="020B0609070205080204" pitchFamily="49" charset="-128"/>
              </a:rPr>
              <a:t> Conducting larger population-based studies along with Single Cell RNA Sequencing to generate better estimates of mechanism(s) for specific cell types in PCOS. </a:t>
            </a:r>
          </a:p>
          <a:p>
            <a:pPr algn="just"/>
            <a:endParaRPr lang="en-US" sz="2000" b="0" i="0" dirty="0">
              <a:solidFill>
                <a:srgbClr val="131417"/>
              </a:solidFill>
              <a:effectLst/>
              <a:ea typeface="MS Gothic" panose="020B0609070205080204" pitchFamily="49" charset="-128"/>
            </a:endParaRPr>
          </a:p>
          <a:p>
            <a:pPr marL="285750" indent="-285750" algn="just">
              <a:buFont typeface="Arial" panose="020B0604020202020204" pitchFamily="34" charset="0"/>
              <a:buChar char="•"/>
            </a:pPr>
            <a:r>
              <a:rPr lang="en-US" sz="2000" b="0" i="0" dirty="0">
                <a:solidFill>
                  <a:srgbClr val="131417"/>
                </a:solidFill>
                <a:effectLst/>
                <a:ea typeface="MS Gothic" panose="020B0609070205080204" pitchFamily="49" charset="-128"/>
              </a:rPr>
              <a:t>Integrating transcriptomics, proteomics, and metabolomics to create a comprehensive multi-omics evaluation of PCOS. </a:t>
            </a:r>
          </a:p>
          <a:p>
            <a:pPr algn="just"/>
            <a:endParaRPr lang="en-US" sz="2000" b="0" i="0" dirty="0">
              <a:solidFill>
                <a:srgbClr val="131417"/>
              </a:solidFill>
              <a:effectLst/>
              <a:ea typeface="MS Gothic" panose="020B0609070205080204" pitchFamily="49" charset="-128"/>
            </a:endParaRPr>
          </a:p>
          <a:p>
            <a:pPr marL="285750" indent="-285750" algn="just">
              <a:buFont typeface="Arial" panose="020B0604020202020204" pitchFamily="34" charset="0"/>
              <a:buChar char="•"/>
            </a:pPr>
            <a:r>
              <a:rPr lang="en-US" sz="2000" b="0" i="0" dirty="0">
                <a:solidFill>
                  <a:srgbClr val="131417"/>
                </a:solidFill>
                <a:effectLst/>
                <a:ea typeface="MS Gothic" panose="020B0609070205080204" pitchFamily="49" charset="-128"/>
              </a:rPr>
              <a:t>Developing/Testing interventions against dysregulated metabolic pathways, altered glucocorticoid-mediated processes, and disrupted cytokine-based interactions. </a:t>
            </a:r>
          </a:p>
          <a:p>
            <a:pPr algn="just"/>
            <a:endParaRPr lang="en-US" sz="2000" b="0" i="0" dirty="0">
              <a:solidFill>
                <a:srgbClr val="131417"/>
              </a:solidFill>
              <a:effectLst/>
              <a:ea typeface="MS Gothic" panose="020B0609070205080204" pitchFamily="49" charset="-128"/>
            </a:endParaRPr>
          </a:p>
          <a:p>
            <a:pPr marL="285750" indent="-285750" algn="just">
              <a:buFont typeface="Arial" panose="020B0604020202020204" pitchFamily="34" charset="0"/>
              <a:buChar char="•"/>
            </a:pPr>
            <a:r>
              <a:rPr lang="en-US" sz="2000" b="0" i="0" dirty="0">
                <a:solidFill>
                  <a:srgbClr val="131417"/>
                </a:solidFill>
                <a:effectLst/>
                <a:ea typeface="MS Gothic" panose="020B0609070205080204" pitchFamily="49" charset="-128"/>
              </a:rPr>
              <a:t>Creating predictive models based on machine learning to analyze potential prognostic markers and classify PCOS into distinct subtypes. </a:t>
            </a:r>
          </a:p>
          <a:p>
            <a:pPr algn="just"/>
            <a:endParaRPr lang="en-US" sz="2000" b="0" i="0" dirty="0">
              <a:solidFill>
                <a:srgbClr val="131417"/>
              </a:solidFill>
              <a:effectLst/>
              <a:ea typeface="MS Gothic" panose="020B0609070205080204" pitchFamily="49" charset="-128"/>
            </a:endParaRPr>
          </a:p>
          <a:p>
            <a:pPr marL="285750" indent="-285750" algn="just">
              <a:buFont typeface="Arial" panose="020B0604020202020204" pitchFamily="34" charset="0"/>
              <a:buChar char="•"/>
            </a:pPr>
            <a:r>
              <a:rPr lang="en-US" sz="2000" b="0" i="0" dirty="0">
                <a:solidFill>
                  <a:srgbClr val="131417"/>
                </a:solidFill>
                <a:effectLst/>
                <a:ea typeface="MS Gothic" panose="020B0609070205080204" pitchFamily="49" charset="-128"/>
              </a:rPr>
              <a:t>One Sentence Vision: Future studies will focus on validating molecular markers of PCOS and using those markers to develop diagnostic and therapeutic strategies.</a:t>
            </a:r>
            <a:endParaRPr lang="en-IN" sz="2000" dirty="0">
              <a:ea typeface="MS Gothic" panose="020B0609070205080204" pitchFamily="49" charset="-128"/>
            </a:endParaRPr>
          </a:p>
        </p:txBody>
      </p:sp>
    </p:spTree>
    <p:extLst>
      <p:ext uri="{BB962C8B-B14F-4D97-AF65-F5344CB8AC3E}">
        <p14:creationId xmlns:p14="http://schemas.microsoft.com/office/powerpoint/2010/main" val="5468085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5F69C63-9565-4596-90BD-41B705899EED}"/>
              </a:ext>
            </a:extLst>
          </p:cNvPr>
          <p:cNvSpPr txBox="1"/>
          <p:nvPr/>
        </p:nvSpPr>
        <p:spPr>
          <a:xfrm>
            <a:off x="890833" y="3742690"/>
            <a:ext cx="6099142" cy="1077218"/>
          </a:xfrm>
          <a:prstGeom prst="rect">
            <a:avLst/>
          </a:prstGeom>
          <a:noFill/>
        </p:spPr>
        <p:txBody>
          <a:bodyPr wrap="square">
            <a:spAutoFit/>
          </a:bodyPr>
          <a:lstStyle/>
          <a:p>
            <a:pPr algn="ctr"/>
            <a:r>
              <a:rPr lang="en-US" sz="3200" b="1"/>
              <a:t>Questions?</a:t>
            </a:r>
          </a:p>
          <a:p>
            <a:r>
              <a:rPr lang="en-US" sz="3200" b="1"/>
              <a:t>Contact:</a:t>
            </a:r>
            <a:r>
              <a:rPr lang="en-US" sz="3200"/>
              <a:t> vanisha0209@gmail.com</a:t>
            </a:r>
            <a:endParaRPr lang="en-US" sz="3200" dirty="0"/>
          </a:p>
        </p:txBody>
      </p:sp>
      <p:sp>
        <p:nvSpPr>
          <p:cNvPr id="9" name="TextBox 8">
            <a:extLst>
              <a:ext uri="{FF2B5EF4-FFF2-40B4-BE49-F238E27FC236}">
                <a16:creationId xmlns:a16="http://schemas.microsoft.com/office/drawing/2014/main" id="{BCAD7C76-9C8D-4175-8931-EAFBDF244F9B}"/>
              </a:ext>
            </a:extLst>
          </p:cNvPr>
          <p:cNvSpPr txBox="1"/>
          <p:nvPr/>
        </p:nvSpPr>
        <p:spPr>
          <a:xfrm>
            <a:off x="2078610" y="2407780"/>
            <a:ext cx="6099142" cy="1015663"/>
          </a:xfrm>
          <a:prstGeom prst="rect">
            <a:avLst/>
          </a:prstGeom>
          <a:noFill/>
        </p:spPr>
        <p:txBody>
          <a:bodyPr wrap="square">
            <a:spAutoFit/>
          </a:bodyPr>
          <a:lstStyle/>
          <a:p>
            <a:r>
              <a:rPr lang="en-US" sz="6000" b="1" dirty="0"/>
              <a:t>Thank You!</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2.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{5A978E4F-FF63-4534-883B-39534888524A}TF8a9b5915-b8c7-461e-8cdd-693d48b5e32371f7b7e2_win32-4bf0b9a2ea37</Template>
  <TotalTime>336</TotalTime>
  <Words>2939</Words>
  <Application>Microsoft Office PowerPoint</Application>
  <PresentationFormat>Widescreen</PresentationFormat>
  <Paragraphs>273</Paragraphs>
  <Slides>26</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Arial</vt:lpstr>
      <vt:lpstr>Arial Black</vt:lpstr>
      <vt:lpstr>Calibri</vt:lpstr>
      <vt:lpstr>Cambria</vt:lpstr>
      <vt:lpstr>Google Sans</vt:lpstr>
      <vt:lpstr>Sabon Next LT</vt:lpstr>
      <vt:lpstr>Symbol</vt:lpstr>
      <vt:lpstr>Times New Roman</vt:lpstr>
      <vt:lpstr>Wingdings</vt:lpstr>
      <vt:lpstr>Custom</vt:lpstr>
      <vt:lpstr>PowerPoint Presentation</vt:lpstr>
      <vt:lpstr>PowerPoint Presentation</vt:lpstr>
      <vt:lpstr>PowerPoint Presentation</vt:lpstr>
      <vt:lpstr>Objectives of the Project</vt:lpstr>
      <vt:lpstr>1. Datasets Used</vt:lpstr>
      <vt:lpstr>2. (a) Microarray QC (GSE98421)</vt:lpstr>
      <vt:lpstr>2. (b) Microarray QC (GSE114419)</vt:lpstr>
      <vt:lpstr>2. (c) Microarray QC (GSE137684)</vt:lpstr>
      <vt:lpstr>3. RNA-seq QC (GSE277906)</vt:lpstr>
      <vt:lpstr>PowerPoint Presentation</vt:lpstr>
      <vt:lpstr>4. (a)  DEG Analysis (limma-GSE98421)</vt:lpstr>
      <vt:lpstr>4. (b) DEG Analysis (limma-GSE11419)</vt:lpstr>
      <vt:lpstr>4. (c) DEG Analysis (limma-GSE137684)</vt:lpstr>
      <vt:lpstr>PowerPoint Presentation</vt:lpstr>
      <vt:lpstr>5. DEG Analysis (RNA SeQ-GSE137684)</vt:lpstr>
      <vt:lpstr>PowerPoint Presentation</vt:lpstr>
      <vt:lpstr>PowerPoint Presentation</vt:lpstr>
      <vt:lpstr>PowerPoint Presentation</vt:lpstr>
      <vt:lpstr>PowerPoint Presentation</vt:lpstr>
      <vt:lpstr>PowerPoint Presentation</vt:lpstr>
      <vt:lpstr>10. Integrated Model</vt:lpstr>
      <vt:lpstr>PowerPoint Presentation</vt:lpstr>
      <vt:lpstr>PowerPoint Presentation</vt:lpstr>
      <vt:lpstr>LIMITATIONS</vt:lpstr>
      <vt:lpstr>FUTUTRE DIRECTIONS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presentation</dc:title>
  <dc:subject/>
  <dc:creator>VANISHA</dc:creator>
  <cp:lastModifiedBy>VANISHA</cp:lastModifiedBy>
  <cp:revision>4</cp:revision>
  <dcterms:created xsi:type="dcterms:W3CDTF">2025-12-10T15:47:29Z</dcterms:created>
  <dcterms:modified xsi:type="dcterms:W3CDTF">2025-12-11T06:01:30Z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